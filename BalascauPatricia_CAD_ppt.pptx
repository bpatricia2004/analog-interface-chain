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64" r:id="rId6"/>
    <p:sldId id="259" r:id="rId7"/>
    <p:sldId id="266" r:id="rId8"/>
    <p:sldId id="267" r:id="rId9"/>
    <p:sldId id="268" r:id="rId10"/>
    <p:sldId id="260" r:id="rId11"/>
    <p:sldId id="261" r:id="rId12"/>
    <p:sldId id="269" r:id="rId13"/>
    <p:sldId id="262" r:id="rId14"/>
    <p:sldId id="270" r:id="rId15"/>
    <p:sldId id="271" r:id="rId16"/>
    <p:sldId id="273" r:id="rId17"/>
    <p:sldId id="263" r:id="rId18"/>
  </p:sldIdLst>
  <p:sldSz cx="18288000" cy="10287000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Poppi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5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8B5BF-F2FC-4BBA-A11E-245E8FB32533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54430-CBAE-4F32-B659-0B8F1BAF1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44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54430-CBAE-4F32-B659-0B8F1BAF14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55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C65D2-8F54-BEDB-80A9-0D0D170ED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BBF8B-8247-550C-0929-2EECFE7BD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536B7-D7EF-C5ED-8CC8-BD526060E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CDC93-B625-CEB9-25C8-7B47F7A6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016D8-B8B8-5E90-E683-9656B276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57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BA66-4FDC-8F72-35E6-7EEFF05F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B9BA1-0E55-3DB7-0110-0A383BD8F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77E33-8CF4-0C9F-61A2-567C9C508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630C8-1411-B6E9-D494-2A7EFFBCD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E2E04-5EC5-2344-B982-45CF623E4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4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7B3E1-05BC-C487-3907-2D51BFF9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80494-D6CA-7F90-9C43-A8B864DC9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8347-6E1C-D865-6DE2-154E9612A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79B1F-4C27-D1BF-80FE-1FCC1E73D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B75F2-1FDC-6E0D-12EA-7F84AF54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827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26DD4-869B-9660-95EF-8C1ED606E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33D81-8C7D-F07B-33F7-9CD063B5F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2542-DE31-F407-C119-DB02C62E4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C7E11-2162-8663-81C6-A84D644F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DDF70-49C2-0ADA-F020-3DD6C8188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1B7AD-1CAB-4989-FADE-7E212A711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33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8A6B-7592-AF9F-F5B6-4893F7056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16D3F-5B01-E4A4-2AA7-37B2708FA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C0C3A-CB3B-8E32-B347-A63459326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95226-2C7C-10AF-4424-0762F490D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E8435-43A2-3B76-E491-92114C2CC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EBF493-7424-7DA5-9AC8-111D274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70D2FA-50AA-8A8D-4A28-BA78D8912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CB85B-4DDC-6190-17FE-3E3D33039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42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A218-DBA0-1636-1CC1-CD96AA39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673B3-EA0A-556E-2441-1F04F005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E007E-CC18-8756-52E9-D1386282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6D819-E5AA-3682-1D6B-7BDB7B8B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1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C2EAA5-E366-DF4D-5D22-67E2E5200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BCB71-001E-5EF5-00C3-0A7915843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B9674-3754-1FE8-CBE5-3490D0E5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8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3A5F2-D4D5-A927-3916-C43213F77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99533-25AA-2EED-026C-633E04347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A516D-615A-D1A4-5375-D048810A8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95D1A-D497-0A23-F405-5BE9F35D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1C625-A501-D82B-B198-5C1F6D230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A19E4-AE74-E38E-C258-832E3DE5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4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14A00-DC52-E46A-3E06-09B548A95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645EB-4548-C335-207E-E2E281301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B52E0C-4FEF-DF40-47B9-FADE36F1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7A773-CE3D-E18F-8FE4-7A275A50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A2F91-EE0B-65DC-69FE-8A576149E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1EB27-5CDA-4115-2EA6-045C2A6C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62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0029-1CAF-22E6-C025-95F7C779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1D1DA6-50C4-47B7-6B74-3F560B27F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EF799-D9B1-F323-9362-F580EF7E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AFA3-05D2-2F58-8883-31297567E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C7DD6-654A-061C-5291-FF69324C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99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30DE72-E06C-F56C-3737-4FED1FA66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C7E7B-38DB-C406-AE76-E469D6A6E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8CF40-F458-19C8-3A78-1AFBA8E4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EDA15-526C-231C-6737-3295716D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C0452-0C95-6B13-3727-26BD5E60C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21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1E948C-1964-F86D-9279-8F7BB3F5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FFF2B-9A47-66CE-51B5-87F7F6902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B78F3-A852-FF5C-EFDD-3D46454CB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CEE1B-79A7-07EB-F474-B664FCC4A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D1E8A-C5F6-2DCF-06DF-B3669C551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9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slide" Target="slide3.xml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slide" Target="slide1.xml"/><Relationship Id="rId4" Type="http://schemas.openxmlformats.org/officeDocument/2006/relationships/image" Target="../media/image7.sv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4.xml"/><Relationship Id="rId7" Type="http://schemas.openxmlformats.org/officeDocument/2006/relationships/image" Target="../media/image1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slide" Target="slide3.xml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9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10.png"/><Relationship Id="rId7" Type="http://schemas.openxmlformats.org/officeDocument/2006/relationships/image" Target="../media/image14.emf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hyperlink" Target="file:///D:\CAD_proiect\BalascauPatricia_CAD_Documentatie.pdf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image" Target="../media/image5.svg"/><Relationship Id="rId5" Type="http://schemas.openxmlformats.org/officeDocument/2006/relationships/image" Target="../media/image15.emf"/><Relationship Id="rId10" Type="http://schemas.openxmlformats.org/officeDocument/2006/relationships/image" Target="../media/image4.png"/><Relationship Id="rId4" Type="http://schemas.openxmlformats.org/officeDocument/2006/relationships/image" Target="../media/image15.png"/><Relationship Id="rId9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hyperlink" Target="file:///D:\CAD_proiect\BalascauPatricia_CAD_Documentatie.pdf" TargetMode="External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slide" Target="slide8.xml"/><Relationship Id="rId10" Type="http://schemas.openxmlformats.org/officeDocument/2006/relationships/image" Target="../media/image5.svg"/><Relationship Id="rId4" Type="http://schemas.openxmlformats.org/officeDocument/2006/relationships/image" Target="../media/image16.emf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hyperlink" Target="file:///D:\CAD_proiect\BalascauPatricia_CAD_Documentatie.pdf" TargetMode="External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slide" Target="slide9.xml"/><Relationship Id="rId10" Type="http://schemas.openxmlformats.org/officeDocument/2006/relationships/image" Target="../media/image5.svg"/><Relationship Id="rId4" Type="http://schemas.openxmlformats.org/officeDocument/2006/relationships/image" Target="../media/image17.emf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19.png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slide" Target="slide10.xml"/><Relationship Id="rId10" Type="http://schemas.openxmlformats.org/officeDocument/2006/relationships/image" Target="../media/image5.svg"/><Relationship Id="rId4" Type="http://schemas.openxmlformats.org/officeDocument/2006/relationships/image" Target="../media/image18.emf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0.png"/><Relationship Id="rId7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slide" Target="slide11.xml"/><Relationship Id="rId10" Type="http://schemas.openxmlformats.org/officeDocument/2006/relationships/slide" Target="slide9.xml"/><Relationship Id="rId4" Type="http://schemas.openxmlformats.org/officeDocument/2006/relationships/image" Target="../media/image21.png"/><Relationship Id="rId9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" Target="slide12.xml"/><Relationship Id="rId7" Type="http://schemas.openxmlformats.org/officeDocument/2006/relationships/image" Target="../media/image9.sv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10" Type="http://schemas.openxmlformats.org/officeDocument/2006/relationships/slide" Target="slide10.xml"/><Relationship Id="rId4" Type="http://schemas.openxmlformats.org/officeDocument/2006/relationships/image" Target="../media/image4.png"/><Relationship Id="rId9" Type="http://schemas.openxmlformats.org/officeDocument/2006/relationships/image" Target="../media/image2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5.png"/><Relationship Id="rId7" Type="http://schemas.openxmlformats.org/officeDocument/2006/relationships/image" Target="../media/image8.png"/><Relationship Id="rId12" Type="http://schemas.openxmlformats.org/officeDocument/2006/relationships/slide" Target="slide11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7.emf"/><Relationship Id="rId5" Type="http://schemas.openxmlformats.org/officeDocument/2006/relationships/image" Target="../media/image4.png"/><Relationship Id="rId10" Type="http://schemas.openxmlformats.org/officeDocument/2006/relationships/image" Target="../media/image26.emf"/><Relationship Id="rId4" Type="http://schemas.openxmlformats.org/officeDocument/2006/relationships/slide" Target="slide13.xml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29.emf"/><Relationship Id="rId7" Type="http://schemas.openxmlformats.org/officeDocument/2006/relationships/image" Target="../media/image11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slide" Target="slide14.xml"/><Relationship Id="rId4" Type="http://schemas.openxmlformats.org/officeDocument/2006/relationships/image" Target="../media/image3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Relationship Id="rId6" Type="http://schemas.openxmlformats.org/officeDocument/2006/relationships/slide" Target="slide13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emf"/><Relationship Id="rId5" Type="http://schemas.openxmlformats.org/officeDocument/2006/relationships/image" Target="../media/image32.png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10.png"/><Relationship Id="rId7" Type="http://schemas.openxmlformats.org/officeDocument/2006/relationships/image" Target="../media/image36.emf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emf"/><Relationship Id="rId5" Type="http://schemas.openxmlformats.org/officeDocument/2006/relationships/slide" Target="slide15.xml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hyperlink" Target="https://drive.google.com/file/d/10_0YpXQT9p47ZY1CyNcf2D9cgdKAaBwf/view?usp=sharing" TargetMode="Externa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813756" y="0"/>
            <a:ext cx="6474244" cy="10321258"/>
          </a:xfrm>
          <a:custGeom>
            <a:avLst/>
            <a:gdLst/>
            <a:ahLst/>
            <a:cxnLst/>
            <a:rect l="l" t="t" r="r" b="b"/>
            <a:pathLst>
              <a:path w="6474244" h="10321258">
                <a:moveTo>
                  <a:pt x="0" y="0"/>
                </a:moveTo>
                <a:lnTo>
                  <a:pt x="6474244" y="0"/>
                </a:lnTo>
                <a:lnTo>
                  <a:pt x="6474244" y="10321258"/>
                </a:lnTo>
                <a:lnTo>
                  <a:pt x="0" y="10321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945283" cy="7097955"/>
            <a:chOff x="0" y="0"/>
            <a:chExt cx="248964" cy="18694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8964" cy="1869420"/>
            </a:xfrm>
            <a:custGeom>
              <a:avLst/>
              <a:gdLst/>
              <a:ahLst/>
              <a:cxnLst/>
              <a:rect l="l" t="t" r="r" b="b"/>
              <a:pathLst>
                <a:path w="248964" h="1869420">
                  <a:moveTo>
                    <a:pt x="0" y="0"/>
                  </a:moveTo>
                  <a:lnTo>
                    <a:pt x="248964" y="0"/>
                  </a:lnTo>
                  <a:lnTo>
                    <a:pt x="248964" y="1869420"/>
                  </a:lnTo>
                  <a:lnTo>
                    <a:pt x="0" y="1869420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48964" cy="1926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7097955"/>
            <a:ext cx="945283" cy="3189045"/>
            <a:chOff x="0" y="0"/>
            <a:chExt cx="248964" cy="8399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8964" cy="839913"/>
            </a:xfrm>
            <a:custGeom>
              <a:avLst/>
              <a:gdLst/>
              <a:ahLst/>
              <a:cxnLst/>
              <a:rect l="l" t="t" r="r" b="b"/>
              <a:pathLst>
                <a:path w="248964" h="839913">
                  <a:moveTo>
                    <a:pt x="0" y="0"/>
                  </a:moveTo>
                  <a:lnTo>
                    <a:pt x="248964" y="0"/>
                  </a:lnTo>
                  <a:lnTo>
                    <a:pt x="248964" y="839913"/>
                  </a:lnTo>
                  <a:lnTo>
                    <a:pt x="0" y="839913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48964" cy="897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>
            <a:hlinkClick r:id="rId6" action="ppaction://hlinksldjump"/>
          </p:cNvPr>
          <p:cNvSpPr/>
          <p:nvPr/>
        </p:nvSpPr>
        <p:spPr>
          <a:xfrm>
            <a:off x="15334998" y="8512390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2791998" y="0"/>
            <a:ext cx="9967041" cy="2456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74"/>
              </a:lnSpc>
              <a:spcBef>
                <a:spcPct val="0"/>
              </a:spcBef>
            </a:pPr>
            <a:r>
              <a:rPr lang="en-US" sz="9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Proiect</a:t>
            </a:r>
            <a:r>
              <a:rPr lang="en-US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DLaM Display" panose="020F0502020204030204" pitchFamily="2" charset="0"/>
                <a:cs typeface="Times New Roman" panose="02020603050405020304" pitchFamily="18" charset="0"/>
              </a:rPr>
              <a:t> CAD</a:t>
            </a:r>
            <a:endParaRPr lang="en-US" sz="15696" b="1" spc="1020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ADLaM Display" panose="020F0502020204030204" pitchFamily="2" charset="0"/>
              <a:cs typeface="Times New Roman" panose="02020603050405020304" pitchFamily="18" charset="0"/>
              <a:sym typeface="Poppins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028900" y="8343900"/>
            <a:ext cx="9784856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Bălășcău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Patricia-Andreea</a:t>
            </a: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Coordonator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Assist. Prof.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Fizeșan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Raul-Traian, PhD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91493" y="3238499"/>
            <a:ext cx="11548307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7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Circuit for controlling the concentration of carbon monoxide in an enclosure</a:t>
            </a:r>
            <a:endParaRPr lang="en-US" sz="96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</p:txBody>
      </p:sp>
      <p:grpSp>
        <p:nvGrpSpPr>
          <p:cNvPr id="20" name="Group 18">
            <a:extLst>
              <a:ext uri="{FF2B5EF4-FFF2-40B4-BE49-F238E27FC236}">
                <a16:creationId xmlns:a16="http://schemas.microsoft.com/office/drawing/2014/main" id="{EAD32A0B-D6E7-A9FE-0B38-085DFE9EDDA1}"/>
              </a:ext>
            </a:extLst>
          </p:cNvPr>
          <p:cNvGrpSpPr/>
          <p:nvPr/>
        </p:nvGrpSpPr>
        <p:grpSpPr>
          <a:xfrm>
            <a:off x="1674355" y="1333500"/>
            <a:ext cx="709090" cy="674955"/>
            <a:chOff x="0" y="0"/>
            <a:chExt cx="812800" cy="812800"/>
          </a:xfrm>
        </p:grpSpPr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204108D-CE7B-D474-4331-5486874E507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0">
              <a:extLst>
                <a:ext uri="{FF2B5EF4-FFF2-40B4-BE49-F238E27FC236}">
                  <a16:creationId xmlns:a16="http://schemas.microsoft.com/office/drawing/2014/main" id="{F79FB3D0-5D5A-F6DC-8A77-2D46F355CFD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A87DB-C934-920B-92C4-5772463B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4627E22-F134-E59D-DF97-1C99C1CC33CA}"/>
              </a:ext>
            </a:extLst>
          </p:cNvPr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0655256-24CF-3C18-2C79-193BA07E886E}"/>
                </a:ext>
              </a:extLst>
            </p:cNvPr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7309DC-5591-675A-CBA2-C03B83D4BCA1}"/>
                </a:ext>
              </a:extLst>
            </p:cNvPr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31FBEA3-7B39-4C38-FF40-0E7460707E83}"/>
              </a:ext>
            </a:extLst>
          </p:cNvPr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6E53835-066C-2DA4-2A0E-0646ED00D777}"/>
                </a:ext>
              </a:extLst>
            </p:cNvPr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F3F4F5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618A067-F3F7-4764-306E-CE932185ABDF}"/>
                </a:ext>
              </a:extLst>
            </p:cNvPr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hlinkClick r:id="rId2" action="ppaction://hlinksldjump"/>
            <a:extLst>
              <a:ext uri="{FF2B5EF4-FFF2-40B4-BE49-F238E27FC236}">
                <a16:creationId xmlns:a16="http://schemas.microsoft.com/office/drawing/2014/main" id="{FC19B6CD-9082-1BB5-4A58-CC7EB74AFEBF}"/>
              </a:ext>
            </a:extLst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A2AEE7A-A765-572A-4E55-DED18D99B18C}"/>
              </a:ext>
            </a:extLst>
          </p:cNvPr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0CA32C3-C36F-A235-63EB-90C814ABA77A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AAD2F53-E374-9ACF-A5FF-8F4131D216D3}"/>
                </a:ext>
              </a:extLst>
            </p:cNvPr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>
            <a:extLst>
              <a:ext uri="{FF2B5EF4-FFF2-40B4-BE49-F238E27FC236}">
                <a16:creationId xmlns:a16="http://schemas.microsoft.com/office/drawing/2014/main" id="{41E5A346-E78F-772C-6980-B3B33B7D498F}"/>
              </a:ext>
            </a:extLst>
          </p:cNvPr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0CBB7DBD-E277-55EE-62C4-14171EE9D89A}"/>
              </a:ext>
            </a:extLst>
          </p:cNvPr>
          <p:cNvSpPr/>
          <p:nvPr/>
        </p:nvSpPr>
        <p:spPr>
          <a:xfrm flipH="1">
            <a:off x="17240250" y="4606903"/>
            <a:ext cx="0" cy="371090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9C48D619-0F4A-AAF1-46EF-358EB487D4A7}"/>
              </a:ext>
            </a:extLst>
          </p:cNvPr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18C9F09-6F15-C7E5-D9F0-127AE2EDCC8C}"/>
              </a:ext>
            </a:extLst>
          </p:cNvPr>
          <p:cNvSpPr txBox="1"/>
          <p:nvPr/>
        </p:nvSpPr>
        <p:spPr>
          <a:xfrm>
            <a:off x="1723107" y="900442"/>
            <a:ext cx="8118627" cy="99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b="1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Topics:</a:t>
            </a: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3654CE1E-0E3E-6F24-7676-EDA4BB0EF6E4}"/>
              </a:ext>
            </a:extLst>
          </p:cNvPr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F5FADD92-1504-1B6D-A8FB-9FD9617E0722}"/>
              </a:ext>
            </a:extLst>
          </p:cNvPr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205C339-0B52-6422-E278-BA43922C2619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64C7E7B8-00DD-ADC4-7B68-448454B24F84}"/>
                </a:ext>
              </a:extLst>
            </p:cNvPr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808F90D-044A-61C6-423C-CAB34ACD03AE}"/>
              </a:ext>
            </a:extLst>
          </p:cNvPr>
          <p:cNvSpPr/>
          <p:nvPr/>
        </p:nvSpPr>
        <p:spPr>
          <a:xfrm>
            <a:off x="3874274" y="2838255"/>
            <a:ext cx="9601200" cy="521903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CBDBB7-63B2-ECE7-F383-1593C6159F5E}"/>
              </a:ext>
            </a:extLst>
          </p:cNvPr>
          <p:cNvSpPr txBox="1"/>
          <p:nvPr/>
        </p:nvSpPr>
        <p:spPr>
          <a:xfrm>
            <a:off x="4445774" y="3314700"/>
            <a:ext cx="84582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Project Requirements and Overview</a:t>
            </a:r>
            <a:endParaRPr lang="en-US" spc="38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Block Diagram</a:t>
            </a:r>
          </a:p>
          <a:p>
            <a:r>
              <a:rPr lang="en-US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3.The circuit</a:t>
            </a:r>
          </a:p>
          <a:p>
            <a:pPr algn="l">
              <a:spcBef>
                <a:spcPct val="0"/>
              </a:spcBef>
            </a:pPr>
            <a:r>
              <a:rPr lang="en-US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4. Active Linear Bridge- Sensor Interface (Part 1/2)</a:t>
            </a:r>
          </a:p>
          <a:p>
            <a:pPr algn="l">
              <a:spcBef>
                <a:spcPct val="0"/>
              </a:spcBef>
            </a:pPr>
            <a:r>
              <a:rPr lang="en-US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5. Non-Inverting Voltage Domain Converter- Sensor Interface (Part 2/2)</a:t>
            </a:r>
          </a:p>
          <a:p>
            <a:pPr algn="l">
              <a:spcBef>
                <a:spcPct val="0"/>
              </a:spcBef>
            </a:pPr>
            <a:r>
              <a:rPr lang="en-US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6. Non-Inverting </a:t>
            </a:r>
            <a:r>
              <a:rPr lang="en-US" spc="38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Hysterezis</a:t>
            </a:r>
            <a:r>
              <a:rPr lang="en-US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 Comparator</a:t>
            </a:r>
          </a:p>
          <a:p>
            <a:pPr algn="l">
              <a:spcBef>
                <a:spcPct val="0"/>
              </a:spcBef>
            </a:pPr>
            <a:r>
              <a:rPr lang="en-US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7/8. Orange Led. Resistive relay</a:t>
            </a:r>
          </a:p>
          <a:p>
            <a:pPr>
              <a:spcBef>
                <a:spcPct val="0"/>
              </a:spcBef>
            </a:pPr>
            <a:r>
              <a:rPr lang="en-US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9.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Selection of Components </a:t>
            </a:r>
          </a:p>
          <a:p>
            <a:pPr>
              <a:spcBef>
                <a:spcPct val="0"/>
              </a:spcBef>
            </a:pPr>
            <a:r>
              <a:rPr lang="en-US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10.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DC sweep analysis (1/2) </a:t>
            </a:r>
          </a:p>
          <a:p>
            <a:pPr>
              <a:spcBef>
                <a:spcPct val="0"/>
              </a:spcBef>
            </a:pPr>
            <a:r>
              <a:rPr lang="en-US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11.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DC sweep analysis (2/2) </a:t>
            </a:r>
          </a:p>
          <a:p>
            <a:pPr>
              <a:spcBef>
                <a:spcPct val="0"/>
              </a:spcBef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12.   LED and relay simulations (1/2)</a:t>
            </a:r>
          </a:p>
          <a:p>
            <a:pPr>
              <a:spcBef>
                <a:spcPct val="0"/>
              </a:spcBef>
            </a:pPr>
            <a:r>
              <a:rPr lang="en-US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13.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LED and relay simulations (2/2)</a:t>
            </a:r>
            <a:endParaRPr lang="en-US" spc="38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  <a:p>
            <a:pPr>
              <a:spcBef>
                <a:spcPct val="0"/>
              </a:spcBef>
            </a:pPr>
            <a:r>
              <a:rPr lang="en-US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14.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Worst case/Monte Carlo analysis</a:t>
            </a:r>
          </a:p>
          <a:p>
            <a:pPr>
              <a:spcBef>
                <a:spcPct val="0"/>
              </a:spcBef>
            </a:pPr>
            <a:r>
              <a:rPr lang="en-US" spc="3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15. Conclusion</a:t>
            </a:r>
          </a:p>
          <a:p>
            <a:pPr>
              <a:spcBef>
                <a:spcPct val="0"/>
              </a:spcBef>
            </a:pPr>
            <a:endParaRPr lang="en-US" sz="1800" b="1" spc="38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Bold"/>
              <a:ea typeface="Poppins Bold"/>
              <a:cs typeface="Poppins Bold"/>
              <a:sym typeface="Poppins Bold"/>
            </a:endParaRPr>
          </a:p>
          <a:p>
            <a:pPr>
              <a:spcBef>
                <a:spcPct val="0"/>
              </a:spcBef>
            </a:pPr>
            <a:endParaRPr lang="en-US" sz="1800" spc="380" dirty="0"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  <a:p>
            <a:pPr>
              <a:spcBef>
                <a:spcPct val="0"/>
              </a:spcBef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US" sz="1800" spc="380" dirty="0"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  <a:p>
            <a:pPr algn="l">
              <a:spcBef>
                <a:spcPct val="0"/>
              </a:spcBef>
            </a:pPr>
            <a:endParaRPr lang="en-US" sz="1800" spc="380" dirty="0"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  <a:p>
            <a:pPr algn="l">
              <a:spcBef>
                <a:spcPct val="0"/>
              </a:spcBef>
            </a:pPr>
            <a:endParaRPr lang="en-US" sz="1800" spc="380" dirty="0"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  <a:p>
            <a:pPr algn="l">
              <a:spcBef>
                <a:spcPct val="0"/>
              </a:spcBef>
            </a:pPr>
            <a:endParaRPr lang="en-US" sz="1800" spc="380" dirty="0"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  <a:p>
            <a:endParaRPr lang="en-US" sz="1800" b="1" spc="380" dirty="0">
              <a:solidFill>
                <a:srgbClr val="1B946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  <a:p>
            <a:endParaRPr lang="en-US" dirty="0"/>
          </a:p>
        </p:txBody>
      </p:sp>
      <p:sp>
        <p:nvSpPr>
          <p:cNvPr id="36" name="Freeform 9">
            <a:hlinkClick r:id="rId7" action="ppaction://hlinksldjump"/>
            <a:extLst>
              <a:ext uri="{FF2B5EF4-FFF2-40B4-BE49-F238E27FC236}">
                <a16:creationId xmlns:a16="http://schemas.microsoft.com/office/drawing/2014/main" id="{062D9AE9-1FE6-2A86-27CE-51AD59DAE50D}"/>
              </a:ext>
            </a:extLst>
          </p:cNvPr>
          <p:cNvSpPr/>
          <p:nvPr/>
        </p:nvSpPr>
        <p:spPr>
          <a:xfrm>
            <a:off x="16933049" y="90377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9">
            <a:hlinkClick r:id="rId10" action="ppaction://hlinksldjump"/>
            <a:extLst>
              <a:ext uri="{FF2B5EF4-FFF2-40B4-BE49-F238E27FC236}">
                <a16:creationId xmlns:a16="http://schemas.microsoft.com/office/drawing/2014/main" id="{4E975BF9-3019-DBC9-CDE4-17D6FD5D0AAD}"/>
              </a:ext>
            </a:extLst>
          </p:cNvPr>
          <p:cNvSpPr/>
          <p:nvPr/>
        </p:nvSpPr>
        <p:spPr>
          <a:xfrm rot="10800000">
            <a:off x="15743130" y="90377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2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961" y="56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hlinkClick r:id="rId3" action="ppaction://hlinksldjump"/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723106" y="900442"/>
            <a:ext cx="13405483" cy="920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Requirements and Overview:</a:t>
            </a:r>
            <a:endParaRPr lang="en-US" sz="2000" b="1" spc="38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C81AD3F-C9F9-17ED-6C72-788957087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765402"/>
              </p:ext>
            </p:extLst>
          </p:nvPr>
        </p:nvGraphicFramePr>
        <p:xfrm>
          <a:off x="3352805" y="7210437"/>
          <a:ext cx="12831735" cy="172755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66347">
                  <a:extLst>
                    <a:ext uri="{9D8B030D-6E8A-4147-A177-3AD203B41FA5}">
                      <a16:colId xmlns:a16="http://schemas.microsoft.com/office/drawing/2014/main" val="3003464399"/>
                    </a:ext>
                  </a:extLst>
                </a:gridCol>
                <a:gridCol w="2566347">
                  <a:extLst>
                    <a:ext uri="{9D8B030D-6E8A-4147-A177-3AD203B41FA5}">
                      <a16:colId xmlns:a16="http://schemas.microsoft.com/office/drawing/2014/main" val="2854689648"/>
                    </a:ext>
                  </a:extLst>
                </a:gridCol>
                <a:gridCol w="2566347">
                  <a:extLst>
                    <a:ext uri="{9D8B030D-6E8A-4147-A177-3AD203B41FA5}">
                      <a16:colId xmlns:a16="http://schemas.microsoft.com/office/drawing/2014/main" val="95062015"/>
                    </a:ext>
                  </a:extLst>
                </a:gridCol>
                <a:gridCol w="2566347">
                  <a:extLst>
                    <a:ext uri="{9D8B030D-6E8A-4147-A177-3AD203B41FA5}">
                      <a16:colId xmlns:a16="http://schemas.microsoft.com/office/drawing/2014/main" val="1131808745"/>
                    </a:ext>
                  </a:extLst>
                </a:gridCol>
                <a:gridCol w="2566347">
                  <a:extLst>
                    <a:ext uri="{9D8B030D-6E8A-4147-A177-3AD203B41FA5}">
                      <a16:colId xmlns:a16="http://schemas.microsoft.com/office/drawing/2014/main" val="2332822866"/>
                    </a:ext>
                  </a:extLst>
                </a:gridCol>
              </a:tblGrid>
              <a:tr h="1224639">
                <a:tc>
                  <a:txBody>
                    <a:bodyPr/>
                    <a:lstStyle/>
                    <a:p>
                      <a:pPr algn="ctr"/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indoor </a:t>
                      </a:r>
                      <a:r>
                        <a:rPr lang="fr-FR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carbon</a:t>
                      </a:r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monoxide</a:t>
                      </a:r>
                      <a:r>
                        <a:rPr lang="fr-F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concentration [ppm] 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measurement range of the sensor [ppm]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resistance [k</a:t>
                      </a:r>
                      <a:r>
                        <a:rPr lang="el-GR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Ω] 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Vcc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[V]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LED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Colour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042303"/>
                  </a:ext>
                </a:extLst>
              </a:tr>
              <a:tr h="35450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 – 8.000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 – 17.000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200 - 25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91819"/>
                  </a:ext>
                </a:extLst>
              </a:tr>
            </a:tbl>
          </a:graphicData>
        </a:graphic>
      </p:graphicFrame>
      <p:sp>
        <p:nvSpPr>
          <p:cNvPr id="26" name="Rectangle 2">
            <a:extLst>
              <a:ext uri="{FF2B5EF4-FFF2-40B4-BE49-F238E27FC236}">
                <a16:creationId xmlns:a16="http://schemas.microsoft.com/office/drawing/2014/main" id="{8EF16C87-162C-A700-95B0-A0FDC9CC4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1" y="2678000"/>
            <a:ext cx="13063499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carbon monoxide sensor is resistive, with its resistance decreasing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200 kΩ to 25 kΩ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CO concentration increases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600 to 17.000 ppm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target detection range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700–8.000 ppm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supply voltage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14 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the sensor output varies between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2–12 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relay-controlled fan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turns on when CO exceeds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8000 ppm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off below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700 ppm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orange LED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also indicates the high level.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resistance is converted into voltage using: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active bridge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non-inverting voltage domain converter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fit the desired range,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hysteresis comparator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threshold crossings and control the fan and 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Freeform 9">
            <a:hlinkClick r:id="rId8" action="ppaction://hlinksldjump"/>
            <a:extLst>
              <a:ext uri="{FF2B5EF4-FFF2-40B4-BE49-F238E27FC236}">
                <a16:creationId xmlns:a16="http://schemas.microsoft.com/office/drawing/2014/main" id="{D9FB6987-F23C-A481-296C-8F98D051D389}"/>
              </a:ext>
            </a:extLst>
          </p:cNvPr>
          <p:cNvSpPr/>
          <p:nvPr/>
        </p:nvSpPr>
        <p:spPr>
          <a:xfrm rot="10800000">
            <a:off x="15581584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F3F4F5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hlinkClick r:id="rId2" action="ppaction://hlinksldjump"/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H="1">
            <a:off x="17240250" y="4606903"/>
            <a:ext cx="0" cy="371090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723107" y="900442"/>
            <a:ext cx="8118627" cy="99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5852" b="1" spc="38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Block Diagram:</a:t>
            </a:r>
          </a:p>
        </p:txBody>
      </p:sp>
      <p:sp>
        <p:nvSpPr>
          <p:cNvPr id="17" name="Freeform 17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A143FBA-7827-3346-43B3-A3CFF4A4F30D}"/>
              </a:ext>
            </a:extLst>
          </p:cNvPr>
          <p:cNvSpPr/>
          <p:nvPr/>
        </p:nvSpPr>
        <p:spPr>
          <a:xfrm>
            <a:off x="1524000" y="3314700"/>
            <a:ext cx="3429000" cy="167639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1B9E5C6-4EE5-4B59-14FA-195F3B533C9D}"/>
              </a:ext>
            </a:extLst>
          </p:cNvPr>
          <p:cNvSpPr/>
          <p:nvPr/>
        </p:nvSpPr>
        <p:spPr>
          <a:xfrm>
            <a:off x="6248400" y="3314700"/>
            <a:ext cx="3429000" cy="167639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4CB2291-A8F0-D6C8-AC5D-AD4973C561E4}"/>
              </a:ext>
            </a:extLst>
          </p:cNvPr>
          <p:cNvSpPr/>
          <p:nvPr/>
        </p:nvSpPr>
        <p:spPr>
          <a:xfrm>
            <a:off x="11506200" y="3314700"/>
            <a:ext cx="3429000" cy="167639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1906C15-8332-B97A-A751-B84D7D3A11B6}"/>
              </a:ext>
            </a:extLst>
          </p:cNvPr>
          <p:cNvSpPr/>
          <p:nvPr/>
        </p:nvSpPr>
        <p:spPr>
          <a:xfrm>
            <a:off x="9667876" y="6386868"/>
            <a:ext cx="3429000" cy="167639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5C88B5F-1B63-B1CC-A083-F012E6192559}"/>
              </a:ext>
            </a:extLst>
          </p:cNvPr>
          <p:cNvSpPr/>
          <p:nvPr/>
        </p:nvSpPr>
        <p:spPr>
          <a:xfrm>
            <a:off x="13487400" y="6386868"/>
            <a:ext cx="3429000" cy="167639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F4E9CF-2605-6BE4-1DED-33E6ABC9D347}"/>
              </a:ext>
            </a:extLst>
          </p:cNvPr>
          <p:cNvSpPr txBox="1"/>
          <p:nvPr/>
        </p:nvSpPr>
        <p:spPr>
          <a:xfrm>
            <a:off x="1905000" y="3614290"/>
            <a:ext cx="2667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active bridge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A1AFBA-9B79-45B4-2324-6F0A21148075}"/>
              </a:ext>
            </a:extLst>
          </p:cNvPr>
          <p:cNvSpPr txBox="1"/>
          <p:nvPr/>
        </p:nvSpPr>
        <p:spPr>
          <a:xfrm>
            <a:off x="6520637" y="3372441"/>
            <a:ext cx="289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Non-inverting voltage domain converter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404AB8-9E33-DD81-F770-57C24928BE24}"/>
              </a:ext>
            </a:extLst>
          </p:cNvPr>
          <p:cNvSpPr txBox="1"/>
          <p:nvPr/>
        </p:nvSpPr>
        <p:spPr>
          <a:xfrm>
            <a:off x="11811000" y="3372441"/>
            <a:ext cx="2819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Non-inverting hysteresis comparator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1C58B5-0685-0A74-D5FB-C9F30DF3546C}"/>
              </a:ext>
            </a:extLst>
          </p:cNvPr>
          <p:cNvSpPr txBox="1"/>
          <p:nvPr/>
        </p:nvSpPr>
        <p:spPr>
          <a:xfrm>
            <a:off x="9972676" y="6686457"/>
            <a:ext cx="2819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circuit module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89362E-271C-B5F1-2E06-75F33A6E20FC}"/>
              </a:ext>
            </a:extLst>
          </p:cNvPr>
          <p:cNvSpPr txBox="1"/>
          <p:nvPr/>
        </p:nvSpPr>
        <p:spPr>
          <a:xfrm>
            <a:off x="13868400" y="6932679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system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27A6E0-CF2A-41AB-5AD4-A4CD2A43C736}"/>
              </a:ext>
            </a:extLst>
          </p:cNvPr>
          <p:cNvCxnSpPr>
            <a:cxnSpLocks/>
          </p:cNvCxnSpPr>
          <p:nvPr/>
        </p:nvCxnSpPr>
        <p:spPr>
          <a:xfrm>
            <a:off x="5105400" y="4152899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112C69C-4544-2713-2BBF-5939B76048D0}"/>
              </a:ext>
            </a:extLst>
          </p:cNvPr>
          <p:cNvCxnSpPr>
            <a:cxnSpLocks/>
          </p:cNvCxnSpPr>
          <p:nvPr/>
        </p:nvCxnSpPr>
        <p:spPr>
          <a:xfrm>
            <a:off x="10058400" y="4152899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14A6986-BCA1-0F87-C85F-ABA332455EBF}"/>
              </a:ext>
            </a:extLst>
          </p:cNvPr>
          <p:cNvCxnSpPr>
            <a:cxnSpLocks/>
          </p:cNvCxnSpPr>
          <p:nvPr/>
        </p:nvCxnSpPr>
        <p:spPr>
          <a:xfrm>
            <a:off x="14173200" y="5295900"/>
            <a:ext cx="0" cy="86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8CF0731-AFE8-A7B4-CEC9-219EE433C9ED}"/>
              </a:ext>
            </a:extLst>
          </p:cNvPr>
          <p:cNvCxnSpPr>
            <a:cxnSpLocks/>
          </p:cNvCxnSpPr>
          <p:nvPr/>
        </p:nvCxnSpPr>
        <p:spPr>
          <a:xfrm>
            <a:off x="12268200" y="5295900"/>
            <a:ext cx="0" cy="86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DB5CABE-B35D-E008-516C-8F278200892E}"/>
              </a:ext>
            </a:extLst>
          </p:cNvPr>
          <p:cNvCxnSpPr/>
          <p:nvPr/>
        </p:nvCxnSpPr>
        <p:spPr>
          <a:xfrm flipH="1">
            <a:off x="8610600" y="6819900"/>
            <a:ext cx="8056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39499D-8D5F-1B0A-EB85-019F87A70103}"/>
              </a:ext>
            </a:extLst>
          </p:cNvPr>
          <p:cNvCxnSpPr/>
          <p:nvPr/>
        </p:nvCxnSpPr>
        <p:spPr>
          <a:xfrm flipH="1">
            <a:off x="8610599" y="7515748"/>
            <a:ext cx="8056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3408C9B-6E96-3460-8F46-8B5F0E9203EC}"/>
              </a:ext>
            </a:extLst>
          </p:cNvPr>
          <p:cNvSpPr txBox="1"/>
          <p:nvPr/>
        </p:nvSpPr>
        <p:spPr>
          <a:xfrm>
            <a:off x="7826998" y="6533505"/>
            <a:ext cx="805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CE663D-C3E2-2693-4B72-73C9E8F08739}"/>
              </a:ext>
            </a:extLst>
          </p:cNvPr>
          <p:cNvSpPr txBox="1"/>
          <p:nvPr/>
        </p:nvSpPr>
        <p:spPr>
          <a:xfrm>
            <a:off x="7826998" y="7260210"/>
            <a:ext cx="102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OFF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E394399-5FFD-CFCA-41B2-D5D28EF3FA31}"/>
              </a:ext>
            </a:extLst>
          </p:cNvPr>
          <p:cNvCxnSpPr/>
          <p:nvPr/>
        </p:nvCxnSpPr>
        <p:spPr>
          <a:xfrm>
            <a:off x="3238500" y="5295900"/>
            <a:ext cx="0" cy="431184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B351F75-942D-B27F-1CBC-2C3ACFC23BF4}"/>
              </a:ext>
            </a:extLst>
          </p:cNvPr>
          <p:cNvCxnSpPr/>
          <p:nvPr/>
        </p:nvCxnSpPr>
        <p:spPr>
          <a:xfrm>
            <a:off x="3238500" y="5727084"/>
            <a:ext cx="499131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23247C2-96B0-11F0-36C8-2F6D534821FA}"/>
              </a:ext>
            </a:extLst>
          </p:cNvPr>
          <p:cNvCxnSpPr>
            <a:cxnSpLocks/>
          </p:cNvCxnSpPr>
          <p:nvPr/>
        </p:nvCxnSpPr>
        <p:spPr>
          <a:xfrm flipV="1">
            <a:off x="8229816" y="5295900"/>
            <a:ext cx="0" cy="431184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2AB9A55-A88C-5AD6-BDF0-4B7FB682413A}"/>
              </a:ext>
            </a:extLst>
          </p:cNvPr>
          <p:cNvSpPr txBox="1"/>
          <p:nvPr/>
        </p:nvSpPr>
        <p:spPr>
          <a:xfrm>
            <a:off x="3733807" y="5193414"/>
            <a:ext cx="3581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 resistive sensor</a:t>
            </a:r>
          </a:p>
        </p:txBody>
      </p:sp>
      <p:sp>
        <p:nvSpPr>
          <p:cNvPr id="9" name="Freeform 13">
            <a:hlinkClick r:id="rId7" action="ppaction://hlinksldjump"/>
            <a:extLst>
              <a:ext uri="{FF2B5EF4-FFF2-40B4-BE49-F238E27FC236}">
                <a16:creationId xmlns:a16="http://schemas.microsoft.com/office/drawing/2014/main" id="{0CB2409B-1A60-67B2-1E1F-DD7FE0E9683F}"/>
              </a:ext>
            </a:extLst>
          </p:cNvPr>
          <p:cNvSpPr/>
          <p:nvPr/>
        </p:nvSpPr>
        <p:spPr>
          <a:xfrm rot="10800000">
            <a:off x="15507214" y="8885997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hlinkClick r:id="rId2" action="ppaction://hlinksldjump"/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AutoShape 13"/>
          <p:cNvSpPr/>
          <p:nvPr/>
        </p:nvSpPr>
        <p:spPr>
          <a:xfrm>
            <a:off x="1723107" y="9277350"/>
            <a:ext cx="14479624" cy="0"/>
          </a:xfrm>
          <a:prstGeom prst="line">
            <a:avLst/>
          </a:prstGeom>
          <a:ln w="38100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H="1">
            <a:off x="17240250" y="3024088"/>
            <a:ext cx="0" cy="5293724"/>
          </a:xfrm>
          <a:prstGeom prst="line">
            <a:avLst/>
          </a:prstGeom>
          <a:ln w="38100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723107" y="2460438"/>
            <a:ext cx="903745" cy="0"/>
          </a:xfrm>
          <a:prstGeom prst="line">
            <a:avLst/>
          </a:prstGeom>
          <a:ln w="238125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723107" y="688269"/>
            <a:ext cx="8143355" cy="932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4800" b="1" spc="380" dirty="0">
                <a:solidFill>
                  <a:srgbClr val="1B94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The circuit: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E5C96FD-F0D4-DA76-C950-DC51834360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3098" y="1565469"/>
            <a:ext cx="12007180" cy="7680605"/>
          </a:xfrm>
          <a:prstGeom prst="rect">
            <a:avLst/>
          </a:prstGeom>
        </p:spPr>
      </p:pic>
      <p:sp>
        <p:nvSpPr>
          <p:cNvPr id="2" name="Freeform 9">
            <a:hlinkClick r:id="rId8" action="ppaction://hlinksldjump"/>
            <a:extLst>
              <a:ext uri="{FF2B5EF4-FFF2-40B4-BE49-F238E27FC236}">
                <a16:creationId xmlns:a16="http://schemas.microsoft.com/office/drawing/2014/main" id="{B28C0FD5-7F83-D8DA-0F70-B2C9EBEE58EA}"/>
              </a:ext>
            </a:extLst>
          </p:cNvPr>
          <p:cNvSpPr/>
          <p:nvPr/>
        </p:nvSpPr>
        <p:spPr>
          <a:xfrm rot="10800000">
            <a:off x="15645691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706600" y="0"/>
            <a:ext cx="3581400" cy="10287000"/>
            <a:chOff x="0" y="0"/>
            <a:chExt cx="1103694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3694" cy="2709333"/>
            </a:xfrm>
            <a:custGeom>
              <a:avLst/>
              <a:gdLst/>
              <a:ahLst/>
              <a:cxnLst/>
              <a:rect l="l" t="t" r="r" b="b"/>
              <a:pathLst>
                <a:path w="1103694" h="2709333">
                  <a:moveTo>
                    <a:pt x="0" y="0"/>
                  </a:moveTo>
                  <a:lnTo>
                    <a:pt x="1103694" y="0"/>
                  </a:lnTo>
                  <a:lnTo>
                    <a:pt x="11036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103694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723107" y="2247900"/>
            <a:ext cx="903745" cy="0"/>
          </a:xfrm>
          <a:prstGeom prst="line">
            <a:avLst/>
          </a:prstGeom>
          <a:ln w="238125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723107" y="900442"/>
            <a:ext cx="993549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43000" indent="-1143000" algn="l">
              <a:spcBef>
                <a:spcPct val="0"/>
              </a:spcBef>
              <a:buAutoNum type="arabicPeriod"/>
            </a:pPr>
            <a:r>
              <a:rPr lang="en-US" sz="4000" b="1" spc="380" dirty="0">
                <a:solidFill>
                  <a:srgbClr val="1B94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Active Linear Bridge</a:t>
            </a:r>
          </a:p>
          <a:p>
            <a:pPr algn="l">
              <a:spcBef>
                <a:spcPct val="0"/>
              </a:spcBef>
            </a:pPr>
            <a:r>
              <a:rPr lang="en-US" sz="4000" b="1" spc="380" dirty="0">
                <a:solidFill>
                  <a:srgbClr val="1B94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                Sensor Interface (Part 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">
                <a:extLst>
                  <a:ext uri="{FF2B5EF4-FFF2-40B4-BE49-F238E27FC236}">
                    <a16:creationId xmlns:a16="http://schemas.microsoft.com/office/drawing/2014/main" id="{C5C68B3C-8799-EB83-D5EC-FFED03FCCF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8700" y="2521466"/>
                <a:ext cx="11506200" cy="14502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kumimoji="0" lang="en-US" alt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active bridge 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converts the resistance variation of the CO sensor into a </a:t>
                </a:r>
                <a:r>
                  <a:rPr kumimoji="0" lang="en-US" alt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voltage.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uses </a:t>
                </a:r>
                <a:r>
                  <a:rPr kumimoji="0" lang="en-US" alt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operational amplifiers with negative feedback, ensuring stability and linearity of the output signal.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20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design is based on voltage divider and superposition principles, leading to a simplified output formula.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Voltage Equation:</a:t>
                </a: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pt-BR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​)⋅</m:t>
                    </m:r>
                    <m:sSub>
                      <m:sSubPr>
                        <m:ctrlPr>
                          <a:rPr lang="pt-BR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𝐶𝐶</m:t>
                        </m:r>
                      </m:sub>
                    </m:sSub>
                  </m:oMath>
                </a14:m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expression becomes:</a:t>
                </a:r>
              </a:p>
              <a:p>
                <a:endParaRPr lang="pt-B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=7−7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​​</a:t>
                </a:r>
              </a:p>
              <a:p>
                <a:pPr>
                  <a:buNone/>
                </a:pPr>
                <a:endParaRPr lang="pt-BR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ensure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(single-supply op-amp):</a:t>
                </a:r>
              </a:p>
              <a:p>
                <a:pPr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⇒</a:t>
                </a:r>
                <a:r>
                  <a:rPr lang="en-US" sz="20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⇒ a &gt;</a:t>
                </a:r>
                <a:r>
                  <a:rPr lang="en-US" sz="2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Selected: a=301 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compatible with </a:t>
                </a:r>
                <a:r>
                  <a:rPr lang="en-US" sz="2000" b="1" dirty="0">
                    <a:solidFill>
                      <a:srgbClr val="92D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E96 series</a:t>
                </a:r>
                <a:r>
                  <a:rPr lang="en-US" sz="2000" dirty="0">
                    <a:solidFill>
                      <a:srgbClr val="92D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design specs.</a:t>
                </a:r>
              </a:p>
              <a:p>
                <a:pPr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Range [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hlinkClick r:id="rId3"/>
                  </a:rPr>
                  <a:t>here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0" lang="en-US" altLang="en-US" sz="20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altLang="en-US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𝑜𝑢𝑡</m:t>
                                  </m:r>
                                  <m: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  <m:r>
                                <a:rPr kumimoji="0" lang="en-US" altLang="en-US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2.348 [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]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4​=200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l-GR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  <m:r>
                                <m:rPr>
                                  <m:nor/>
                                </m:rPr>
                                <a:rPr lang="el-GR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𝑜𝑢𝑡</m:t>
                                  </m:r>
                                  <m: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  <m:r>
                                    <a:rPr kumimoji="0" lang="en-US" altLang="en-US" sz="2000" b="0" i="1" u="none" strike="noStrike" cap="none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kumimoji="0" lang="en-US" altLang="en-US" sz="20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6.418 [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]                     (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4​=25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el-GR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Ω</m:t>
                              </m:r>
                              <m:r>
                                <m:rPr>
                                  <m:nor/>
                                </m:rPr>
                                <a:rPr lang="el-GR" sz="200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Rectangle 2">
                <a:extLst>
                  <a:ext uri="{FF2B5EF4-FFF2-40B4-BE49-F238E27FC236}">
                    <a16:creationId xmlns:a16="http://schemas.microsoft.com/office/drawing/2014/main" id="{C5C68B3C-8799-EB83-D5EC-FFED03FCCF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8700" y="2521466"/>
                <a:ext cx="11506200" cy="14502368"/>
              </a:xfrm>
              <a:prstGeom prst="rect">
                <a:avLst/>
              </a:prstGeom>
              <a:blipFill>
                <a:blip r:embed="rId4"/>
                <a:stretch>
                  <a:fillRect l="-58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E72963DF-9A6C-D127-177A-8ABB4E437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3759371"/>
            <a:ext cx="6148388" cy="4503334"/>
          </a:xfrm>
          <a:prstGeom prst="rect">
            <a:avLst/>
          </a:prstGeom>
        </p:spPr>
      </p:pic>
      <p:sp>
        <p:nvSpPr>
          <p:cNvPr id="7" name="Freeform 8">
            <a:hlinkClick r:id="rId6" action="ppaction://hlinksldjump"/>
            <a:extLst>
              <a:ext uri="{FF2B5EF4-FFF2-40B4-BE49-F238E27FC236}">
                <a16:creationId xmlns:a16="http://schemas.microsoft.com/office/drawing/2014/main" id="{43D1CED8-5763-0292-243E-3C0F0DD972B1}"/>
              </a:ext>
            </a:extLst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13">
            <a:hlinkClick r:id="rId9" action="ppaction://hlinksldjump"/>
            <a:extLst>
              <a:ext uri="{FF2B5EF4-FFF2-40B4-BE49-F238E27FC236}">
                <a16:creationId xmlns:a16="http://schemas.microsoft.com/office/drawing/2014/main" id="{2A01D740-DC91-4DCF-E0F3-9CB7B3E46D30}"/>
              </a:ext>
            </a:extLst>
          </p:cNvPr>
          <p:cNvSpPr/>
          <p:nvPr/>
        </p:nvSpPr>
        <p:spPr>
          <a:xfrm rot="10800000">
            <a:off x="15507214" y="8885997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1D3E3-1B13-7CAB-6034-E00D47AB8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C1C5947-C163-A641-E43D-A3FF3E660D05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488937C-038F-CE7A-DF54-A88D1DF99B78}"/>
              </a:ext>
            </a:extLst>
          </p:cNvPr>
          <p:cNvGrpSpPr/>
          <p:nvPr/>
        </p:nvGrpSpPr>
        <p:grpSpPr>
          <a:xfrm>
            <a:off x="14706600" y="0"/>
            <a:ext cx="3581400" cy="10287000"/>
            <a:chOff x="0" y="0"/>
            <a:chExt cx="1103694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C5D97BF-1E8F-9688-8B90-C3D95462129F}"/>
                </a:ext>
              </a:extLst>
            </p:cNvPr>
            <p:cNvSpPr/>
            <p:nvPr/>
          </p:nvSpPr>
          <p:spPr>
            <a:xfrm>
              <a:off x="0" y="0"/>
              <a:ext cx="1103694" cy="2709333"/>
            </a:xfrm>
            <a:custGeom>
              <a:avLst/>
              <a:gdLst/>
              <a:ahLst/>
              <a:cxnLst/>
              <a:rect l="l" t="t" r="r" b="b"/>
              <a:pathLst>
                <a:path w="1103694" h="2709333">
                  <a:moveTo>
                    <a:pt x="0" y="0"/>
                  </a:moveTo>
                  <a:lnTo>
                    <a:pt x="1103694" y="0"/>
                  </a:lnTo>
                  <a:lnTo>
                    <a:pt x="11036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CC95913-41D1-060B-3C2E-A28F86027F3C}"/>
                </a:ext>
              </a:extLst>
            </p:cNvPr>
            <p:cNvSpPr txBox="1"/>
            <p:nvPr/>
          </p:nvSpPr>
          <p:spPr>
            <a:xfrm>
              <a:off x="0" y="-57150"/>
              <a:ext cx="1103694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2AAE1FC-6572-1C0B-6EBC-A641EC5D8C79}"/>
              </a:ext>
            </a:extLst>
          </p:cNvPr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7DECF7F-9735-89F8-B4A3-62D7F1042FCA}"/>
                </a:ext>
              </a:extLst>
            </p:cNvPr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2510D5E0-70AB-F8B1-81CA-324B4B87F28E}"/>
                </a:ext>
              </a:extLst>
            </p:cNvPr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30C5E99-F2D3-450F-557A-9E039FC1FE00}"/>
              </a:ext>
            </a:extLst>
          </p:cNvPr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DCE2FE5C-72B1-31A8-809D-BD74A6D07C04}"/>
                </a:ext>
              </a:extLst>
            </p:cNvPr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6EB8E774-FBE2-C94F-3A70-086CEE1D0927}"/>
                </a:ext>
              </a:extLst>
            </p:cNvPr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37E7BAD-CA47-22A5-CE83-DCEC008CBA68}"/>
              </a:ext>
            </a:extLst>
          </p:cNvPr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00943D0-6C80-05D8-387E-9DE67D0F78AE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5B86E4D9-A9F2-163C-46BE-B5908ECFFB17}"/>
                </a:ext>
              </a:extLst>
            </p:cNvPr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F4AEA69C-2DAE-A6B5-6D9B-736B605BC4B2}"/>
              </a:ext>
            </a:extLst>
          </p:cNvPr>
          <p:cNvSpPr/>
          <p:nvPr/>
        </p:nvSpPr>
        <p:spPr>
          <a:xfrm>
            <a:off x="1723107" y="2247900"/>
            <a:ext cx="903745" cy="0"/>
          </a:xfrm>
          <a:prstGeom prst="line">
            <a:avLst/>
          </a:prstGeom>
          <a:ln w="238125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739249D-9628-E7DC-962E-F31AF138E17C}"/>
              </a:ext>
            </a:extLst>
          </p:cNvPr>
          <p:cNvSpPr txBox="1"/>
          <p:nvPr/>
        </p:nvSpPr>
        <p:spPr>
          <a:xfrm>
            <a:off x="1723107" y="900442"/>
            <a:ext cx="1214529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000" b="1" spc="380" dirty="0">
                <a:solidFill>
                  <a:srgbClr val="1B94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2.   Non-Inverting Voltage Domain Converter</a:t>
            </a:r>
          </a:p>
          <a:p>
            <a:pPr algn="l">
              <a:spcBef>
                <a:spcPct val="0"/>
              </a:spcBef>
            </a:pPr>
            <a:r>
              <a:rPr lang="en-US" sz="4000" b="1" spc="380" dirty="0">
                <a:solidFill>
                  <a:srgbClr val="1B94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                Sensor Interface (Part 2/2)</a:t>
            </a: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9A898E09-4E78-85D9-2D47-7DFE5BC59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2733324"/>
            <a:ext cx="14192250" cy="8433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shift and amplify the signal so that the output voltage Vout2 swings between </a:t>
            </a:r>
            <a:r>
              <a:rPr lang="en-US" sz="2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2V and 12V.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Vout2​ increases with CO concentration, as a non-inverting amplifier converts Vout1 ∈ [2.348; 6.418 V] into a [2V; 12V] output range [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buffer isolates the voltage divider from the amplifier, keeping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​ stable and ensuring correct simulation.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36F5D5-EE2A-3F84-3CBC-1CE78E5A3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316667"/>
              </p:ext>
            </p:extLst>
          </p:nvPr>
        </p:nvGraphicFramePr>
        <p:xfrm>
          <a:off x="331327" y="5180556"/>
          <a:ext cx="4591050" cy="202861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30350">
                  <a:extLst>
                    <a:ext uri="{9D8B030D-6E8A-4147-A177-3AD203B41FA5}">
                      <a16:colId xmlns:a16="http://schemas.microsoft.com/office/drawing/2014/main" val="4160626696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1537632380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1235326691"/>
                    </a:ext>
                  </a:extLst>
                </a:gridCol>
              </a:tblGrid>
              <a:tr h="10227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Voltage (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max,min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[V]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7566037"/>
                  </a:ext>
                </a:extLst>
              </a:tr>
              <a:tr h="3879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Vout2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55485635"/>
                  </a:ext>
                </a:extLst>
              </a:tr>
              <a:tr h="3879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Vout1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79488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9CF82A4-B360-9924-541E-4199D1333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4032449"/>
            <a:ext cx="8863012" cy="5631705"/>
          </a:xfrm>
          <a:prstGeom prst="rect">
            <a:avLst/>
          </a:prstGeom>
        </p:spPr>
      </p:pic>
      <p:sp>
        <p:nvSpPr>
          <p:cNvPr id="9" name="Freeform 8">
            <a:hlinkClick r:id="rId5" action="ppaction://hlinksldjump"/>
            <a:extLst>
              <a:ext uri="{FF2B5EF4-FFF2-40B4-BE49-F238E27FC236}">
                <a16:creationId xmlns:a16="http://schemas.microsoft.com/office/drawing/2014/main" id="{23649012-D8E3-E763-F0B7-648BE6055F5D}"/>
              </a:ext>
            </a:extLst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3">
            <a:hlinkClick r:id="rId8" action="ppaction://hlinksldjump"/>
            <a:extLst>
              <a:ext uri="{FF2B5EF4-FFF2-40B4-BE49-F238E27FC236}">
                <a16:creationId xmlns:a16="http://schemas.microsoft.com/office/drawing/2014/main" id="{BEC6134D-01AA-D011-F2A2-0D2C8CCB9101}"/>
              </a:ext>
            </a:extLst>
          </p:cNvPr>
          <p:cNvSpPr/>
          <p:nvPr/>
        </p:nvSpPr>
        <p:spPr>
          <a:xfrm rot="10800000">
            <a:off x="15507214" y="8885997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494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26BA-6D82-0A8D-04A2-3513B73CA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BD0218-1442-70A3-0948-C1ABA0DE22E2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47C72C3-8FE2-8C66-9F93-9E1A91098669}"/>
              </a:ext>
            </a:extLst>
          </p:cNvPr>
          <p:cNvGrpSpPr/>
          <p:nvPr/>
        </p:nvGrpSpPr>
        <p:grpSpPr>
          <a:xfrm>
            <a:off x="14706600" y="0"/>
            <a:ext cx="3581400" cy="10287000"/>
            <a:chOff x="0" y="0"/>
            <a:chExt cx="1103694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B99526-8483-77A9-26EC-8160692A0352}"/>
                </a:ext>
              </a:extLst>
            </p:cNvPr>
            <p:cNvSpPr/>
            <p:nvPr/>
          </p:nvSpPr>
          <p:spPr>
            <a:xfrm>
              <a:off x="0" y="0"/>
              <a:ext cx="1103694" cy="2709333"/>
            </a:xfrm>
            <a:custGeom>
              <a:avLst/>
              <a:gdLst/>
              <a:ahLst/>
              <a:cxnLst/>
              <a:rect l="l" t="t" r="r" b="b"/>
              <a:pathLst>
                <a:path w="1103694" h="2709333">
                  <a:moveTo>
                    <a:pt x="0" y="0"/>
                  </a:moveTo>
                  <a:lnTo>
                    <a:pt x="1103694" y="0"/>
                  </a:lnTo>
                  <a:lnTo>
                    <a:pt x="11036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10DC342-AE8F-565B-AE1A-D9A5AF85ECA9}"/>
                </a:ext>
              </a:extLst>
            </p:cNvPr>
            <p:cNvSpPr txBox="1"/>
            <p:nvPr/>
          </p:nvSpPr>
          <p:spPr>
            <a:xfrm>
              <a:off x="0" y="-57150"/>
              <a:ext cx="1103694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04F208E-CC17-999E-3DBC-3450801A9218}"/>
              </a:ext>
            </a:extLst>
          </p:cNvPr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42F2404-8582-A7D1-45CB-01F2CC12F461}"/>
                </a:ext>
              </a:extLst>
            </p:cNvPr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8DB4A3A9-9DCF-2E85-D094-D1511660B4B7}"/>
                </a:ext>
              </a:extLst>
            </p:cNvPr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519D3B35-3276-C5FA-F3D6-CC8A7EDA612A}"/>
              </a:ext>
            </a:extLst>
          </p:cNvPr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FADB6D44-AD7B-89DB-2B42-1B98C519F255}"/>
                </a:ext>
              </a:extLst>
            </p:cNvPr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C149261B-6B12-5429-4424-34778F748773}"/>
                </a:ext>
              </a:extLst>
            </p:cNvPr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E2CAAAFA-34FC-9AF5-206B-D67CF56FEF29}"/>
              </a:ext>
            </a:extLst>
          </p:cNvPr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C7D13A6-D6F9-DC3F-E06D-6FA87A0341E0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ED309450-4F49-63B4-AF05-59105084F02A}"/>
                </a:ext>
              </a:extLst>
            </p:cNvPr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FBBC8AFC-1ECC-FB8A-DDE0-8C3DE667100B}"/>
              </a:ext>
            </a:extLst>
          </p:cNvPr>
          <p:cNvSpPr/>
          <p:nvPr/>
        </p:nvSpPr>
        <p:spPr>
          <a:xfrm>
            <a:off x="1723107" y="2247900"/>
            <a:ext cx="903745" cy="0"/>
          </a:xfrm>
          <a:prstGeom prst="line">
            <a:avLst/>
          </a:prstGeom>
          <a:ln w="238125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425CF01-8E7C-2DB3-BDB6-0510CB98059C}"/>
              </a:ext>
            </a:extLst>
          </p:cNvPr>
          <p:cNvSpPr txBox="1"/>
          <p:nvPr/>
        </p:nvSpPr>
        <p:spPr>
          <a:xfrm>
            <a:off x="1723107" y="900442"/>
            <a:ext cx="1214529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000" b="1" spc="380" dirty="0">
                <a:solidFill>
                  <a:srgbClr val="1B94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3.   Non-Inverting </a:t>
            </a:r>
            <a:r>
              <a:rPr lang="en-US" sz="4000" b="1" spc="380" dirty="0" err="1">
                <a:solidFill>
                  <a:srgbClr val="1B94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Hysterezis</a:t>
            </a:r>
            <a:r>
              <a:rPr lang="en-US" sz="4000" b="1" spc="380" dirty="0">
                <a:solidFill>
                  <a:srgbClr val="1B94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 Comparator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80F5FD-1BA6-D56A-AE4C-F203080D78BB}"/>
              </a:ext>
            </a:extLst>
          </p:cNvPr>
          <p:cNvSpPr txBox="1"/>
          <p:nvPr/>
        </p:nvSpPr>
        <p:spPr>
          <a:xfrm>
            <a:off x="1295400" y="2628900"/>
            <a:ext cx="12344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stage detects when the input voltage (Vout2) crosses two thresholds and switches the output (Vout3) between 0V and 14V.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an AD822 op-amp with positive feedback (via R9) for hysteresis.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inverting input receives a reference voltage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Vreff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from a resistor divider (R11, R12).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Vout2 &gt;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VthH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6.52 V → Vout3= 14 V → fan ON, LED 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Vout2 &lt;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VthL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2.0612 V  → Vout3= 0 V  → fan OFF, LED OFF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VthH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VthL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calculated based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Vreff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resistor ratios (R9/R10), and output levels [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here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noise immunity and stable switching.</a:t>
            </a:r>
          </a:p>
          <a:p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F0C01C-43C4-B7DA-E395-7F8AD1BF9C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5697063"/>
            <a:ext cx="6500812" cy="4349028"/>
          </a:xfrm>
          <a:prstGeom prst="rect">
            <a:avLst/>
          </a:prstGeom>
        </p:spPr>
      </p:pic>
      <p:sp>
        <p:nvSpPr>
          <p:cNvPr id="6" name="Freeform 8">
            <a:hlinkClick r:id="rId5" action="ppaction://hlinksldjump"/>
            <a:extLst>
              <a:ext uri="{FF2B5EF4-FFF2-40B4-BE49-F238E27FC236}">
                <a16:creationId xmlns:a16="http://schemas.microsoft.com/office/drawing/2014/main" id="{81B2D45B-B4D3-A782-FF7C-03066F5E01F6}"/>
              </a:ext>
            </a:extLst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13">
            <a:hlinkClick r:id="rId8" action="ppaction://hlinksldjump"/>
            <a:extLst>
              <a:ext uri="{FF2B5EF4-FFF2-40B4-BE49-F238E27FC236}">
                <a16:creationId xmlns:a16="http://schemas.microsoft.com/office/drawing/2014/main" id="{414D471C-8B7E-91F2-E12B-59B99CDB1C09}"/>
              </a:ext>
            </a:extLst>
          </p:cNvPr>
          <p:cNvSpPr/>
          <p:nvPr/>
        </p:nvSpPr>
        <p:spPr>
          <a:xfrm rot="10800000">
            <a:off x="15507214" y="8885997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455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A5CF-B1DD-607F-C0E4-979238EF8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3FC569-60A0-005A-D875-60ED9FC94FAF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C1493B8-5FFC-F419-FD90-4DCF34A134B2}"/>
              </a:ext>
            </a:extLst>
          </p:cNvPr>
          <p:cNvGrpSpPr/>
          <p:nvPr/>
        </p:nvGrpSpPr>
        <p:grpSpPr>
          <a:xfrm>
            <a:off x="14706600" y="0"/>
            <a:ext cx="3581400" cy="10287000"/>
            <a:chOff x="0" y="0"/>
            <a:chExt cx="1103694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5EB7D97-D987-6243-C9AA-C35A7373854C}"/>
                </a:ext>
              </a:extLst>
            </p:cNvPr>
            <p:cNvSpPr/>
            <p:nvPr/>
          </p:nvSpPr>
          <p:spPr>
            <a:xfrm>
              <a:off x="0" y="0"/>
              <a:ext cx="1103694" cy="2709333"/>
            </a:xfrm>
            <a:custGeom>
              <a:avLst/>
              <a:gdLst/>
              <a:ahLst/>
              <a:cxnLst/>
              <a:rect l="l" t="t" r="r" b="b"/>
              <a:pathLst>
                <a:path w="1103694" h="2709333">
                  <a:moveTo>
                    <a:pt x="0" y="0"/>
                  </a:moveTo>
                  <a:lnTo>
                    <a:pt x="1103694" y="0"/>
                  </a:lnTo>
                  <a:lnTo>
                    <a:pt x="11036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219B330-6493-B889-9E60-157EE0B697DD}"/>
                </a:ext>
              </a:extLst>
            </p:cNvPr>
            <p:cNvSpPr txBox="1"/>
            <p:nvPr/>
          </p:nvSpPr>
          <p:spPr>
            <a:xfrm>
              <a:off x="0" y="-57150"/>
              <a:ext cx="1103694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CD713BA-CF71-8561-FA95-EDC49F2E6E2F}"/>
              </a:ext>
            </a:extLst>
          </p:cNvPr>
          <p:cNvGrpSpPr/>
          <p:nvPr/>
        </p:nvGrpSpPr>
        <p:grpSpPr>
          <a:xfrm>
            <a:off x="0" y="0"/>
            <a:ext cx="1028700" cy="1771441"/>
            <a:chOff x="0" y="0"/>
            <a:chExt cx="270933" cy="466552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8BDD852C-B0BB-717B-4205-EF5CAE8FDA03}"/>
                </a:ext>
              </a:extLst>
            </p:cNvPr>
            <p:cNvSpPr/>
            <p:nvPr/>
          </p:nvSpPr>
          <p:spPr>
            <a:xfrm>
              <a:off x="0" y="0"/>
              <a:ext cx="270933" cy="466552"/>
            </a:xfrm>
            <a:custGeom>
              <a:avLst/>
              <a:gdLst/>
              <a:ahLst/>
              <a:cxnLst/>
              <a:rect l="l" t="t" r="r" b="b"/>
              <a:pathLst>
                <a:path w="270933" h="466552">
                  <a:moveTo>
                    <a:pt x="0" y="0"/>
                  </a:moveTo>
                  <a:lnTo>
                    <a:pt x="270933" y="0"/>
                  </a:lnTo>
                  <a:lnTo>
                    <a:pt x="270933" y="466552"/>
                  </a:lnTo>
                  <a:lnTo>
                    <a:pt x="0" y="466552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28BBEEB8-725A-35AF-A5AB-172666AF1214}"/>
                </a:ext>
              </a:extLst>
            </p:cNvPr>
            <p:cNvSpPr txBox="1"/>
            <p:nvPr/>
          </p:nvSpPr>
          <p:spPr>
            <a:xfrm>
              <a:off x="0" y="-57150"/>
              <a:ext cx="270933" cy="52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83EF7966-B6A0-F9FA-D3C8-9A9F77063D6B}"/>
              </a:ext>
            </a:extLst>
          </p:cNvPr>
          <p:cNvGrpSpPr/>
          <p:nvPr/>
        </p:nvGrpSpPr>
        <p:grpSpPr>
          <a:xfrm>
            <a:off x="0" y="8088569"/>
            <a:ext cx="1028700" cy="1169731"/>
            <a:chOff x="0" y="0"/>
            <a:chExt cx="270933" cy="308077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3419FF9-C934-0CB9-62A0-5C77DB64C8F1}"/>
                </a:ext>
              </a:extLst>
            </p:cNvPr>
            <p:cNvSpPr/>
            <p:nvPr/>
          </p:nvSpPr>
          <p:spPr>
            <a:xfrm>
              <a:off x="0" y="0"/>
              <a:ext cx="270933" cy="308077"/>
            </a:xfrm>
            <a:custGeom>
              <a:avLst/>
              <a:gdLst/>
              <a:ahLst/>
              <a:cxnLst/>
              <a:rect l="l" t="t" r="r" b="b"/>
              <a:pathLst>
                <a:path w="270933" h="308077">
                  <a:moveTo>
                    <a:pt x="0" y="0"/>
                  </a:moveTo>
                  <a:lnTo>
                    <a:pt x="270933" y="0"/>
                  </a:lnTo>
                  <a:lnTo>
                    <a:pt x="270933" y="308077"/>
                  </a:lnTo>
                  <a:lnTo>
                    <a:pt x="0" y="308077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F8697360-70CA-ABDC-99B4-4D29D56C9750}"/>
                </a:ext>
              </a:extLst>
            </p:cNvPr>
            <p:cNvSpPr txBox="1"/>
            <p:nvPr/>
          </p:nvSpPr>
          <p:spPr>
            <a:xfrm>
              <a:off x="0" y="-57150"/>
              <a:ext cx="270933" cy="36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A30DB2FF-EFC1-EC25-5677-4BC38BAC5802}"/>
              </a:ext>
            </a:extLst>
          </p:cNvPr>
          <p:cNvGrpSpPr/>
          <p:nvPr/>
        </p:nvGrpSpPr>
        <p:grpSpPr>
          <a:xfrm>
            <a:off x="0" y="9258300"/>
            <a:ext cx="1028700" cy="1028700"/>
            <a:chOff x="0" y="0"/>
            <a:chExt cx="270933" cy="270933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04433C4-1DBF-F0EC-A9DE-1A2283C06674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49E89CEC-A9D6-9143-AE92-0A761E00CD76}"/>
                </a:ext>
              </a:extLst>
            </p:cNvPr>
            <p:cNvSpPr txBox="1"/>
            <p:nvPr/>
          </p:nvSpPr>
          <p:spPr>
            <a:xfrm>
              <a:off x="0" y="-57150"/>
              <a:ext cx="27093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AutoShape 21">
            <a:extLst>
              <a:ext uri="{FF2B5EF4-FFF2-40B4-BE49-F238E27FC236}">
                <a16:creationId xmlns:a16="http://schemas.microsoft.com/office/drawing/2014/main" id="{B5D028E8-4256-22A1-F1DE-3A5068403393}"/>
              </a:ext>
            </a:extLst>
          </p:cNvPr>
          <p:cNvSpPr/>
          <p:nvPr/>
        </p:nvSpPr>
        <p:spPr>
          <a:xfrm>
            <a:off x="1723107" y="2247900"/>
            <a:ext cx="903745" cy="0"/>
          </a:xfrm>
          <a:prstGeom prst="line">
            <a:avLst/>
          </a:prstGeom>
          <a:ln w="238125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C0F4653-75DD-5A13-4846-9FA884E6AAAA}"/>
              </a:ext>
            </a:extLst>
          </p:cNvPr>
          <p:cNvSpPr txBox="1"/>
          <p:nvPr/>
        </p:nvSpPr>
        <p:spPr>
          <a:xfrm>
            <a:off x="1723107" y="652286"/>
            <a:ext cx="1214529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 algn="l">
              <a:spcBef>
                <a:spcPct val="0"/>
              </a:spcBef>
              <a:buAutoNum type="arabicPeriod" startAt="4"/>
            </a:pPr>
            <a:r>
              <a:rPr lang="en-US" sz="4000" b="1" spc="380" dirty="0">
                <a:solidFill>
                  <a:srgbClr val="1B94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Orange Led</a:t>
            </a:r>
          </a:p>
          <a:p>
            <a:pPr marL="742950" indent="-742950" algn="l">
              <a:spcBef>
                <a:spcPct val="0"/>
              </a:spcBef>
              <a:buAutoNum type="arabicPeriod" startAt="4"/>
            </a:pPr>
            <a:r>
              <a:rPr lang="en-US" sz="4000" b="1" spc="380" dirty="0">
                <a:solidFill>
                  <a:srgbClr val="1B94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Resistive relay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652870-027E-DB47-135C-C5DE3ED0D24E}"/>
                  </a:ext>
                </a:extLst>
              </p:cNvPr>
              <p:cNvSpPr txBox="1"/>
              <p:nvPr/>
            </p:nvSpPr>
            <p:spPr>
              <a:xfrm>
                <a:off x="1219200" y="2612409"/>
                <a:ext cx="6248400" cy="6801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forward current through the LED is 20 mA, with a forward voltage of 2 V.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relay has a trigger voltage of 5 V, an operating current of 40 mA, and an internal coil resistance of 125 Ω.</a:t>
                </a:r>
              </a:p>
              <a:p>
                <a:pPr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N-type MOSFETs were used to provide enough current for the LED to luminate brightly (20mA) and for the voltage drop across the relay to be 5V. </a:t>
                </a:r>
              </a:p>
              <a:p>
                <a:pPr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LED operation: ensuring 20 mA current through a 2 V.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Relay switching: ensuring a 5 V drop across the 125 Ω relay coil.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required resistor for the LED was calculated as: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𝐿𝐸𝐷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𝑚𝐴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=150</m:t>
                      </m:r>
                      <m:r>
                        <a:rPr lang="el-GR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relay current: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𝑟𝑒𝑙𝑎𝑦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125</m:t>
                          </m:r>
                          <m:r>
                            <a:rPr lang="el-GR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Ω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=40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652870-027E-DB47-135C-C5DE3ED0D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612409"/>
                <a:ext cx="6248400" cy="6801285"/>
              </a:xfrm>
              <a:prstGeom prst="rect">
                <a:avLst/>
              </a:prstGeom>
              <a:blipFill>
                <a:blip r:embed="rId3"/>
                <a:stretch>
                  <a:fillRect l="-976" t="-538" r="-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93D3131-F5B0-BBA5-8A92-D3A74B745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1" y="3031364"/>
            <a:ext cx="5057206" cy="5057206"/>
          </a:xfrm>
          <a:prstGeom prst="rect">
            <a:avLst/>
          </a:prstGeom>
        </p:spPr>
      </p:pic>
      <p:sp>
        <p:nvSpPr>
          <p:cNvPr id="6" name="Freeform 8">
            <a:hlinkClick r:id="rId5" action="ppaction://hlinksldjump"/>
            <a:extLst>
              <a:ext uri="{FF2B5EF4-FFF2-40B4-BE49-F238E27FC236}">
                <a16:creationId xmlns:a16="http://schemas.microsoft.com/office/drawing/2014/main" id="{9E4E16CD-AAE7-5719-B799-6E7AE32A4F54}"/>
              </a:ext>
            </a:extLst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13">
            <a:hlinkClick r:id="rId8" action="ppaction://hlinksldjump"/>
            <a:extLst>
              <a:ext uri="{FF2B5EF4-FFF2-40B4-BE49-F238E27FC236}">
                <a16:creationId xmlns:a16="http://schemas.microsoft.com/office/drawing/2014/main" id="{5B3D4402-3D37-D94A-F48E-F6F821E34724}"/>
              </a:ext>
            </a:extLst>
          </p:cNvPr>
          <p:cNvSpPr/>
          <p:nvPr/>
        </p:nvSpPr>
        <p:spPr>
          <a:xfrm rot="10800000">
            <a:off x="15507214" y="8885997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791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8F4D1AB8-1F63-66BF-CED8-55803A37F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129" y="6026186"/>
            <a:ext cx="8228079" cy="33107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B3F4B1C-AC82-4DBC-78A6-2B0C9C159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374" y="2591488"/>
            <a:ext cx="8475000" cy="35422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3" name="Group 3"/>
          <p:cNvGrpSpPr/>
          <p:nvPr/>
        </p:nvGrpSpPr>
        <p:grpSpPr>
          <a:xfrm>
            <a:off x="0" y="0"/>
            <a:ext cx="4561519" cy="10287000"/>
            <a:chOff x="0" y="0"/>
            <a:chExt cx="120138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01388" cy="2709333"/>
            </a:xfrm>
            <a:custGeom>
              <a:avLst/>
              <a:gdLst/>
              <a:ahLst/>
              <a:cxnLst/>
              <a:rect l="l" t="t" r="r" b="b"/>
              <a:pathLst>
                <a:path w="1201388" h="2709333">
                  <a:moveTo>
                    <a:pt x="0" y="0"/>
                  </a:moveTo>
                  <a:lnTo>
                    <a:pt x="1201388" y="0"/>
                  </a:lnTo>
                  <a:lnTo>
                    <a:pt x="12013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201388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0649" y="2126453"/>
            <a:ext cx="8603142" cy="7649907"/>
            <a:chOff x="0" y="0"/>
            <a:chExt cx="2265848" cy="17839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65848" cy="1783996"/>
            </a:xfrm>
            <a:custGeom>
              <a:avLst/>
              <a:gdLst/>
              <a:ahLst/>
              <a:cxnLst/>
              <a:rect l="l" t="t" r="r" b="b"/>
              <a:pathLst>
                <a:path w="2265848" h="1783996">
                  <a:moveTo>
                    <a:pt x="0" y="0"/>
                  </a:moveTo>
                  <a:lnTo>
                    <a:pt x="2265848" y="0"/>
                  </a:lnTo>
                  <a:lnTo>
                    <a:pt x="2265848" y="1783996"/>
                  </a:lnTo>
                  <a:lnTo>
                    <a:pt x="0" y="1783996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265848" cy="1841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80502" y="2678158"/>
            <a:ext cx="903979" cy="90397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-854729" y="3676583"/>
            <a:ext cx="5040612" cy="39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Resistors</a:t>
            </a:r>
            <a:endParaRPr lang="en-US" sz="2300" spc="149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75372" y="2808158"/>
            <a:ext cx="790715" cy="63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3545" b="1" dirty="0">
                <a:solidFill>
                  <a:srgbClr val="1B9461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52792" y="4292384"/>
            <a:ext cx="903979" cy="90397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19548" y="4429372"/>
            <a:ext cx="790715" cy="63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3545" b="1" dirty="0">
                <a:solidFill>
                  <a:srgbClr val="1B9461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35801" y="3373153"/>
            <a:ext cx="790715" cy="63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354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75621" y="4478705"/>
            <a:ext cx="5040612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AD822 op-amp was selected for its single-supply operation (5V–30V) and rail-to-rail output, ensuring accurate voltage levels in the hysteresis comparator.</a:t>
            </a:r>
            <a:endParaRPr lang="en-US" sz="2000" spc="149" dirty="0">
              <a:solidFill>
                <a:srgbClr val="FFFFFF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29" name="Freeform 29">
            <a:hlinkClick r:id="rId5" action="ppaction://hlinksldjump"/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AutoShape 30"/>
          <p:cNvSpPr/>
          <p:nvPr/>
        </p:nvSpPr>
        <p:spPr>
          <a:xfrm flipH="1">
            <a:off x="17240250" y="4803299"/>
            <a:ext cx="0" cy="3514512"/>
          </a:xfrm>
          <a:prstGeom prst="line">
            <a:avLst/>
          </a:prstGeom>
          <a:ln w="38100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1"/>
          <p:cNvSpPr/>
          <p:nvPr/>
        </p:nvSpPr>
        <p:spPr>
          <a:xfrm flipV="1">
            <a:off x="8355855" y="9277350"/>
            <a:ext cx="7846876" cy="0"/>
          </a:xfrm>
          <a:prstGeom prst="line">
            <a:avLst/>
          </a:prstGeom>
          <a:ln w="38100" cap="flat">
            <a:solidFill>
              <a:srgbClr val="1B946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5298868" y="861716"/>
            <a:ext cx="9255332" cy="1001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Components </a:t>
            </a:r>
            <a:endParaRPr lang="en-US" sz="5852" b="1" spc="380" dirty="0">
              <a:solidFill>
                <a:srgbClr val="1B946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Poppins Bold"/>
              <a:cs typeface="Times New Roman" panose="02020603050405020304" pitchFamily="18" charset="0"/>
              <a:sym typeface="Poppins Bold"/>
            </a:endParaRPr>
          </a:p>
        </p:txBody>
      </p:sp>
      <p:sp>
        <p:nvSpPr>
          <p:cNvPr id="33" name="Freeform 33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1FB318B-A4D7-2750-3861-42389ECCED38}"/>
              </a:ext>
            </a:extLst>
          </p:cNvPr>
          <p:cNvSpPr txBox="1"/>
          <p:nvPr/>
        </p:nvSpPr>
        <p:spPr>
          <a:xfrm>
            <a:off x="2641481" y="2834340"/>
            <a:ext cx="5414754" cy="10156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resistors used are from the E96 standard series, with 1% tolerance for high accuracy. They are through-hole components, each rated at 1/4 W.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F408AE-1D2A-AC2C-E3AE-6A7D657CAE4F}"/>
              </a:ext>
            </a:extLst>
          </p:cNvPr>
          <p:cNvSpPr txBox="1"/>
          <p:nvPr/>
        </p:nvSpPr>
        <p:spPr>
          <a:xfrm>
            <a:off x="552791" y="5261986"/>
            <a:ext cx="2159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Operational amplifiers</a:t>
            </a:r>
          </a:p>
        </p:txBody>
      </p:sp>
      <p:grpSp>
        <p:nvGrpSpPr>
          <p:cNvPr id="40" name="Group 14">
            <a:extLst>
              <a:ext uri="{FF2B5EF4-FFF2-40B4-BE49-F238E27FC236}">
                <a16:creationId xmlns:a16="http://schemas.microsoft.com/office/drawing/2014/main" id="{FDFB38BB-096B-5126-A076-0AF13FD9497A}"/>
              </a:ext>
            </a:extLst>
          </p:cNvPr>
          <p:cNvGrpSpPr/>
          <p:nvPr/>
        </p:nvGrpSpPr>
        <p:grpSpPr>
          <a:xfrm>
            <a:off x="1169842" y="6315918"/>
            <a:ext cx="903979" cy="903979"/>
            <a:chOff x="0" y="0"/>
            <a:chExt cx="812800" cy="812800"/>
          </a:xfrm>
        </p:grpSpPr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4EF43F06-F2C4-1FBF-87DF-36A79ECB2F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16">
              <a:extLst>
                <a:ext uri="{FF2B5EF4-FFF2-40B4-BE49-F238E27FC236}">
                  <a16:creationId xmlns:a16="http://schemas.microsoft.com/office/drawing/2014/main" id="{307C63DE-756F-CCDF-433C-5A4FC986680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TextBox 17">
            <a:extLst>
              <a:ext uri="{FF2B5EF4-FFF2-40B4-BE49-F238E27FC236}">
                <a16:creationId xmlns:a16="http://schemas.microsoft.com/office/drawing/2014/main" id="{5BBD305C-E571-008A-DDC0-2176AD3240E2}"/>
              </a:ext>
            </a:extLst>
          </p:cNvPr>
          <p:cNvSpPr txBox="1"/>
          <p:nvPr/>
        </p:nvSpPr>
        <p:spPr>
          <a:xfrm>
            <a:off x="1237133" y="6451034"/>
            <a:ext cx="790715" cy="60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3545" b="1" dirty="0">
                <a:solidFill>
                  <a:srgbClr val="1B9461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5B28E3-80E1-B765-C646-33F4C1079714}"/>
              </a:ext>
            </a:extLst>
          </p:cNvPr>
          <p:cNvSpPr txBox="1"/>
          <p:nvPr/>
        </p:nvSpPr>
        <p:spPr>
          <a:xfrm>
            <a:off x="2495575" y="7028633"/>
            <a:ext cx="5040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- 125 Ω resistance at 5V voltage drop.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B34C11-4F97-BB7A-E035-42AEDF01BF71}"/>
              </a:ext>
            </a:extLst>
          </p:cNvPr>
          <p:cNvSpPr txBox="1"/>
          <p:nvPr/>
        </p:nvSpPr>
        <p:spPr>
          <a:xfrm>
            <a:off x="1180502" y="7327603"/>
            <a:ext cx="913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</a:p>
          <a:p>
            <a:pPr algn="ctr"/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Relay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E8C8C2-94AA-737B-DCD5-F0B81BA28362}"/>
              </a:ext>
            </a:extLst>
          </p:cNvPr>
          <p:cNvSpPr txBox="1"/>
          <p:nvPr/>
        </p:nvSpPr>
        <p:spPr>
          <a:xfrm>
            <a:off x="2495575" y="6619336"/>
            <a:ext cx="5414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610 nm emission, 2V forward voltage at 20 mA.</a:t>
            </a:r>
          </a:p>
        </p:txBody>
      </p:sp>
      <p:sp>
        <p:nvSpPr>
          <p:cNvPr id="48" name="TextBox 17">
            <a:extLst>
              <a:ext uri="{FF2B5EF4-FFF2-40B4-BE49-F238E27FC236}">
                <a16:creationId xmlns:a16="http://schemas.microsoft.com/office/drawing/2014/main" id="{B3BA1110-FE66-336C-5CA7-72D86010A466}"/>
              </a:ext>
            </a:extLst>
          </p:cNvPr>
          <p:cNvSpPr txBox="1"/>
          <p:nvPr/>
        </p:nvSpPr>
        <p:spPr>
          <a:xfrm>
            <a:off x="1209426" y="9012843"/>
            <a:ext cx="790715" cy="60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3545" b="1" dirty="0">
                <a:solidFill>
                  <a:srgbClr val="1B9461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grpSp>
        <p:nvGrpSpPr>
          <p:cNvPr id="49" name="Group 14">
            <a:extLst>
              <a:ext uri="{FF2B5EF4-FFF2-40B4-BE49-F238E27FC236}">
                <a16:creationId xmlns:a16="http://schemas.microsoft.com/office/drawing/2014/main" id="{16A4C70C-BE54-F38B-525F-76B7693AC670}"/>
              </a:ext>
            </a:extLst>
          </p:cNvPr>
          <p:cNvGrpSpPr/>
          <p:nvPr/>
        </p:nvGrpSpPr>
        <p:grpSpPr>
          <a:xfrm>
            <a:off x="1152792" y="8342723"/>
            <a:ext cx="903979" cy="903979"/>
            <a:chOff x="0" y="0"/>
            <a:chExt cx="812800" cy="812800"/>
          </a:xfrm>
        </p:grpSpPr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7B283445-72C2-BA24-B454-DB20CD9904F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16">
              <a:extLst>
                <a:ext uri="{FF2B5EF4-FFF2-40B4-BE49-F238E27FC236}">
                  <a16:creationId xmlns:a16="http://schemas.microsoft.com/office/drawing/2014/main" id="{13066BBC-919D-6D6A-007D-0CA96947904F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2" name="TextBox 17">
            <a:extLst>
              <a:ext uri="{FF2B5EF4-FFF2-40B4-BE49-F238E27FC236}">
                <a16:creationId xmlns:a16="http://schemas.microsoft.com/office/drawing/2014/main" id="{5AF12378-13B6-C980-73C3-E68E73D32BB2}"/>
              </a:ext>
            </a:extLst>
          </p:cNvPr>
          <p:cNvSpPr txBox="1"/>
          <p:nvPr/>
        </p:nvSpPr>
        <p:spPr>
          <a:xfrm>
            <a:off x="1219547" y="8436845"/>
            <a:ext cx="790715" cy="60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63"/>
              </a:lnSpc>
              <a:spcBef>
                <a:spcPct val="0"/>
              </a:spcBef>
            </a:pPr>
            <a:r>
              <a:rPr lang="en-US" sz="3545" b="1" dirty="0">
                <a:solidFill>
                  <a:srgbClr val="1B9461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32C8F7-3AAE-5E38-34C3-5A14D4371BD5}"/>
              </a:ext>
            </a:extLst>
          </p:cNvPr>
          <p:cNvSpPr txBox="1"/>
          <p:nvPr/>
        </p:nvSpPr>
        <p:spPr>
          <a:xfrm>
            <a:off x="895644" y="9246609"/>
            <a:ext cx="1473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NMOS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86BFD9-0D66-3679-890A-D43C5EF53AE1}"/>
              </a:ext>
            </a:extLst>
          </p:cNvPr>
          <p:cNvSpPr txBox="1"/>
          <p:nvPr/>
        </p:nvSpPr>
        <p:spPr>
          <a:xfrm>
            <a:off x="2495575" y="8180528"/>
            <a:ext cx="5414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N-MOSFETs (2N7000) used to drive relay and LED. Activated by HIGH gate voltage;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gate-source voltage rated to ±20V.</a:t>
            </a:r>
          </a:p>
        </p:txBody>
      </p:sp>
      <p:sp>
        <p:nvSpPr>
          <p:cNvPr id="18" name="Freeform 9">
            <a:hlinkClick r:id="rId10" action="ppaction://hlinksldjump"/>
            <a:extLst>
              <a:ext uri="{FF2B5EF4-FFF2-40B4-BE49-F238E27FC236}">
                <a16:creationId xmlns:a16="http://schemas.microsoft.com/office/drawing/2014/main" id="{50B6979A-32D1-C9C7-20DA-D0693D0F5850}"/>
              </a:ext>
            </a:extLst>
          </p:cNvPr>
          <p:cNvSpPr/>
          <p:nvPr/>
        </p:nvSpPr>
        <p:spPr>
          <a:xfrm rot="10800000">
            <a:off x="15645691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9144000" cy="10287000"/>
            <a:chOff x="0" y="0"/>
            <a:chExt cx="240829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408296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hlinkClick r:id="rId3" action="ppaction://hlinksldjump"/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7787564" y="3024089"/>
            <a:ext cx="0" cy="529372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9144000" y="9277350"/>
            <a:ext cx="705873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81075" y="611470"/>
            <a:ext cx="8407367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DC sweep analysis (1/2)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17759" y="2593361"/>
            <a:ext cx="6268674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 sweep of global parameter was used to check if 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out2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swings linearly with R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switches at the required CO concentration thresholds and if the LED and the relay work properly.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037BE6-DD25-5524-D52D-301443194A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9495" y="4649364"/>
            <a:ext cx="8052574" cy="36183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060D8A6-34E7-C540-4363-594A239577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570" y="3484963"/>
            <a:ext cx="7924800" cy="4371975"/>
          </a:xfrm>
          <a:prstGeom prst="rect">
            <a:avLst/>
          </a:prstGeom>
        </p:spPr>
      </p:pic>
      <p:sp>
        <p:nvSpPr>
          <p:cNvPr id="9" name="Freeform 13">
            <a:hlinkClick r:id="rId10" action="ppaction://hlinksldjump"/>
            <a:extLst>
              <a:ext uri="{FF2B5EF4-FFF2-40B4-BE49-F238E27FC236}">
                <a16:creationId xmlns:a16="http://schemas.microsoft.com/office/drawing/2014/main" id="{4208FE96-316F-FC74-F6F9-22B9EBE91E66}"/>
              </a:ext>
            </a:extLst>
          </p:cNvPr>
          <p:cNvSpPr/>
          <p:nvPr/>
        </p:nvSpPr>
        <p:spPr>
          <a:xfrm rot="10800000">
            <a:off x="15507214" y="8885997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26AC9-0D91-0073-B8E5-4EB580D0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7E22DBA-42B1-CC4D-E7AD-E6E25E508A6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4B74106-DC1C-57CB-3D37-5BEEC2CD0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3608" y="5935801"/>
            <a:ext cx="6849280" cy="3049953"/>
          </a:xfrm>
          <a:prstGeom prst="rect">
            <a:avLst/>
          </a:prstGeom>
        </p:spPr>
      </p:pic>
      <p:grpSp>
        <p:nvGrpSpPr>
          <p:cNvPr id="3" name="Group 3">
            <a:extLst>
              <a:ext uri="{FF2B5EF4-FFF2-40B4-BE49-F238E27FC236}">
                <a16:creationId xmlns:a16="http://schemas.microsoft.com/office/drawing/2014/main" id="{BE7FA58F-21B1-B400-A967-B6F47AE11FF9}"/>
              </a:ext>
            </a:extLst>
          </p:cNvPr>
          <p:cNvGrpSpPr/>
          <p:nvPr/>
        </p:nvGrpSpPr>
        <p:grpSpPr>
          <a:xfrm>
            <a:off x="0" y="0"/>
            <a:ext cx="9144000" cy="10287000"/>
            <a:chOff x="0" y="0"/>
            <a:chExt cx="2408296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8BE997C-72FF-EF1E-930A-A84B6ADE6804}"/>
                </a:ext>
              </a:extLst>
            </p:cNvPr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5211AD-B699-B744-8FBC-4A6B77393A11}"/>
                </a:ext>
              </a:extLst>
            </p:cNvPr>
            <p:cNvSpPr txBox="1"/>
            <p:nvPr/>
          </p:nvSpPr>
          <p:spPr>
            <a:xfrm>
              <a:off x="0" y="-57150"/>
              <a:ext cx="2408296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hlinkClick r:id="rId4" action="ppaction://hlinksldjump"/>
            <a:extLst>
              <a:ext uri="{FF2B5EF4-FFF2-40B4-BE49-F238E27FC236}">
                <a16:creationId xmlns:a16="http://schemas.microsoft.com/office/drawing/2014/main" id="{652C19BF-D61B-29BB-498D-73CAAD7C3425}"/>
              </a:ext>
            </a:extLst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F9928B93-5114-A81B-8199-A4122CA2E73C}"/>
              </a:ext>
            </a:extLst>
          </p:cNvPr>
          <p:cNvSpPr/>
          <p:nvPr/>
        </p:nvSpPr>
        <p:spPr>
          <a:xfrm>
            <a:off x="17787564" y="3024089"/>
            <a:ext cx="0" cy="529372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CA870501-0C99-36E9-F279-793219A82F7E}"/>
              </a:ext>
            </a:extLst>
          </p:cNvPr>
          <p:cNvSpPr/>
          <p:nvPr/>
        </p:nvSpPr>
        <p:spPr>
          <a:xfrm>
            <a:off x="9144000" y="9277350"/>
            <a:ext cx="705873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CBF0D50-9B84-59D7-8DAE-6A67243D2E45}"/>
              </a:ext>
            </a:extLst>
          </p:cNvPr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7ACFD43-47D8-3015-7A23-D6914E2FDCAB}"/>
              </a:ext>
            </a:extLst>
          </p:cNvPr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7DE6AD83-429F-9C8D-4AC5-9313456BC897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C9BA119-CDF1-7ADC-C347-EA01C8B9E525}"/>
                </a:ext>
              </a:extLst>
            </p:cNvPr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C7E2D1A1-93D7-E91E-6589-D1B05DFE961F}"/>
              </a:ext>
            </a:extLst>
          </p:cNvPr>
          <p:cNvSpPr txBox="1"/>
          <p:nvPr/>
        </p:nvSpPr>
        <p:spPr>
          <a:xfrm>
            <a:off x="581075" y="611470"/>
            <a:ext cx="8407367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DC sweep analysis (2/2) 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429E551-B90F-46AA-D38C-4DF77AD18439}"/>
              </a:ext>
            </a:extLst>
          </p:cNvPr>
          <p:cNvSpPr txBox="1"/>
          <p:nvPr/>
        </p:nvSpPr>
        <p:spPr>
          <a:xfrm>
            <a:off x="9201392" y="1301246"/>
            <a:ext cx="6268674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simulation profile was created to show the VTC of the hysteresis comparator, in 2 parts: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668C2BE-F89E-0EFD-20CB-5EF129E25D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5253" y="2523867"/>
            <a:ext cx="6787640" cy="30499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264746-F729-E02F-3116-17993972A5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487" y="3664458"/>
            <a:ext cx="8201025" cy="44005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B853783-7083-B01C-F680-5905A3C2B2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107" y="3661791"/>
            <a:ext cx="8201025" cy="4400550"/>
          </a:xfrm>
          <a:prstGeom prst="rect">
            <a:avLst/>
          </a:prstGeom>
        </p:spPr>
      </p:pic>
      <p:sp>
        <p:nvSpPr>
          <p:cNvPr id="9" name="Freeform 13">
            <a:hlinkClick r:id="rId12" action="ppaction://hlinksldjump"/>
            <a:extLst>
              <a:ext uri="{FF2B5EF4-FFF2-40B4-BE49-F238E27FC236}">
                <a16:creationId xmlns:a16="http://schemas.microsoft.com/office/drawing/2014/main" id="{6973A148-DD96-989C-C5A8-618D38ABE985}"/>
              </a:ext>
            </a:extLst>
          </p:cNvPr>
          <p:cNvSpPr/>
          <p:nvPr/>
        </p:nvSpPr>
        <p:spPr>
          <a:xfrm rot="10800000">
            <a:off x="15507214" y="8885997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1" y="0"/>
                </a:lnTo>
                <a:lnTo>
                  <a:pt x="919201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678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 rot="16200000">
            <a:off x="5254805" y="-2712071"/>
            <a:ext cx="7710141" cy="18288000"/>
            <a:chOff x="0" y="0"/>
            <a:chExt cx="2030654" cy="2438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0654" cy="2438400"/>
            </a:xfrm>
            <a:custGeom>
              <a:avLst/>
              <a:gdLst/>
              <a:ahLst/>
              <a:cxnLst/>
              <a:rect l="l" t="t" r="r" b="b"/>
              <a:pathLst>
                <a:path w="2030654" h="2438400">
                  <a:moveTo>
                    <a:pt x="0" y="0"/>
                  </a:moveTo>
                  <a:lnTo>
                    <a:pt x="2030654" y="0"/>
                  </a:lnTo>
                  <a:lnTo>
                    <a:pt x="203065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030654" cy="249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6732" y="218720"/>
            <a:ext cx="7308983" cy="2047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LED and relay simulations (1/2)</a:t>
            </a:r>
            <a:endParaRPr lang="en-US" sz="5852" b="1" spc="38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0D6605-A549-7C9D-1C69-4B027C0B0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875" y="4229100"/>
            <a:ext cx="8213117" cy="35569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C76E59-D50D-A698-13A0-73A86D2F6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00" y="2840313"/>
            <a:ext cx="6609000" cy="35569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99FD242-5D98-585E-D265-DC95A4C8E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6267022"/>
            <a:ext cx="6969434" cy="4026233"/>
          </a:xfrm>
          <a:prstGeom prst="rect">
            <a:avLst/>
          </a:prstGeom>
        </p:spPr>
      </p:pic>
      <p:sp>
        <p:nvSpPr>
          <p:cNvPr id="2" name="Freeform 29">
            <a:hlinkClick r:id="rId5" action="ppaction://hlinksldjump"/>
            <a:extLst>
              <a:ext uri="{FF2B5EF4-FFF2-40B4-BE49-F238E27FC236}">
                <a16:creationId xmlns:a16="http://schemas.microsoft.com/office/drawing/2014/main" id="{3B49B72C-8A13-20BA-DB80-77D1DD443428}"/>
              </a:ext>
            </a:extLst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9">
            <a:hlinkClick r:id="rId8" action="ppaction://hlinksldjump"/>
            <a:extLst>
              <a:ext uri="{FF2B5EF4-FFF2-40B4-BE49-F238E27FC236}">
                <a16:creationId xmlns:a16="http://schemas.microsoft.com/office/drawing/2014/main" id="{E515C49D-9410-63D8-B8EC-0078EC3FAD57}"/>
              </a:ext>
            </a:extLst>
          </p:cNvPr>
          <p:cNvSpPr/>
          <p:nvPr/>
        </p:nvSpPr>
        <p:spPr>
          <a:xfrm rot="10800000">
            <a:off x="15645691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A7B93-83C4-23BA-7718-EB77A7D31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56462739-0290-75B3-3C64-FB4857B0D80C}"/>
              </a:ext>
            </a:extLst>
          </p:cNvPr>
          <p:cNvGrpSpPr/>
          <p:nvPr/>
        </p:nvGrpSpPr>
        <p:grpSpPr>
          <a:xfrm rot="16200000">
            <a:off x="5254805" y="-2712071"/>
            <a:ext cx="7710141" cy="18288000"/>
            <a:chOff x="0" y="0"/>
            <a:chExt cx="2030654" cy="24384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766FF19-9F2C-D01E-B680-E1761C87344D}"/>
                </a:ext>
              </a:extLst>
            </p:cNvPr>
            <p:cNvSpPr/>
            <p:nvPr/>
          </p:nvSpPr>
          <p:spPr>
            <a:xfrm>
              <a:off x="0" y="0"/>
              <a:ext cx="2030654" cy="2438400"/>
            </a:xfrm>
            <a:custGeom>
              <a:avLst/>
              <a:gdLst/>
              <a:ahLst/>
              <a:cxnLst/>
              <a:rect l="l" t="t" r="r" b="b"/>
              <a:pathLst>
                <a:path w="2030654" h="2438400">
                  <a:moveTo>
                    <a:pt x="0" y="0"/>
                  </a:moveTo>
                  <a:lnTo>
                    <a:pt x="2030654" y="0"/>
                  </a:lnTo>
                  <a:lnTo>
                    <a:pt x="203065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6ADED8F-2EC9-2CFC-7048-1AFC8E345634}"/>
                </a:ext>
              </a:extLst>
            </p:cNvPr>
            <p:cNvSpPr txBox="1"/>
            <p:nvPr/>
          </p:nvSpPr>
          <p:spPr>
            <a:xfrm>
              <a:off x="0" y="-57150"/>
              <a:ext cx="2030654" cy="249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620B960F-C521-800D-3155-0BDC0498DE6E}"/>
              </a:ext>
            </a:extLst>
          </p:cNvPr>
          <p:cNvSpPr txBox="1"/>
          <p:nvPr/>
        </p:nvSpPr>
        <p:spPr>
          <a:xfrm>
            <a:off x="996732" y="218720"/>
            <a:ext cx="7308983" cy="2047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LED and relay simulations (2/2)</a:t>
            </a:r>
            <a:endParaRPr lang="en-US" sz="5852" b="1" spc="38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Bold"/>
              <a:ea typeface="Poppins Bold"/>
              <a:cs typeface="Poppins Bold"/>
              <a:sym typeface="Poppins Bold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B892B53-2AC7-94FB-1FC4-F153B775F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319" y="1026320"/>
            <a:ext cx="8876317" cy="8234359"/>
          </a:xfrm>
          <a:prstGeom prst="rect">
            <a:avLst/>
          </a:prstGeom>
        </p:spPr>
      </p:pic>
      <p:grpSp>
        <p:nvGrpSpPr>
          <p:cNvPr id="9" name="Group 11">
            <a:extLst>
              <a:ext uri="{FF2B5EF4-FFF2-40B4-BE49-F238E27FC236}">
                <a16:creationId xmlns:a16="http://schemas.microsoft.com/office/drawing/2014/main" id="{B4FFEF3A-C517-B323-E321-03189D3697B1}"/>
              </a:ext>
            </a:extLst>
          </p:cNvPr>
          <p:cNvGrpSpPr/>
          <p:nvPr/>
        </p:nvGrpSpPr>
        <p:grpSpPr>
          <a:xfrm>
            <a:off x="1187631" y="3603148"/>
            <a:ext cx="6645358" cy="4133116"/>
            <a:chOff x="0" y="0"/>
            <a:chExt cx="2317914" cy="1273897"/>
          </a:xfrm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CF34E697-D1ED-54AF-A2EF-49F84246D64F}"/>
                </a:ext>
              </a:extLst>
            </p:cNvPr>
            <p:cNvSpPr/>
            <p:nvPr/>
          </p:nvSpPr>
          <p:spPr>
            <a:xfrm>
              <a:off x="0" y="0"/>
              <a:ext cx="2317914" cy="1273897"/>
            </a:xfrm>
            <a:custGeom>
              <a:avLst/>
              <a:gdLst/>
              <a:ahLst/>
              <a:cxnLst/>
              <a:rect l="l" t="t" r="r" b="b"/>
              <a:pathLst>
                <a:path w="2317914" h="1273897">
                  <a:moveTo>
                    <a:pt x="0" y="0"/>
                  </a:moveTo>
                  <a:lnTo>
                    <a:pt x="2317914" y="0"/>
                  </a:lnTo>
                  <a:lnTo>
                    <a:pt x="2317914" y="1273897"/>
                  </a:lnTo>
                  <a:lnTo>
                    <a:pt x="0" y="1273897"/>
                  </a:lnTo>
                  <a:close/>
                </a:path>
              </a:pathLst>
            </a:cu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2A96688-96C5-2655-0E8F-FAC5BE98E3B7}"/>
                </a:ext>
              </a:extLst>
            </p:cNvPr>
            <p:cNvSpPr txBox="1"/>
            <p:nvPr/>
          </p:nvSpPr>
          <p:spPr>
            <a:xfrm>
              <a:off x="0" y="-57150"/>
              <a:ext cx="2317914" cy="1331047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A4BCC81E-1227-61BE-9AB7-094835EBA3D3}"/>
              </a:ext>
            </a:extLst>
          </p:cNvPr>
          <p:cNvGrpSpPr/>
          <p:nvPr/>
        </p:nvGrpSpPr>
        <p:grpSpPr>
          <a:xfrm>
            <a:off x="1537125" y="4517148"/>
            <a:ext cx="5946370" cy="2305116"/>
            <a:chOff x="0" y="0"/>
            <a:chExt cx="3983480" cy="1627635"/>
          </a:xfrm>
        </p:grpSpPr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4F63B471-F6CE-A5E3-2ABA-242E776EA100}"/>
                </a:ext>
              </a:extLst>
            </p:cNvPr>
            <p:cNvSpPr/>
            <p:nvPr/>
          </p:nvSpPr>
          <p:spPr>
            <a:xfrm>
              <a:off x="0" y="0"/>
              <a:ext cx="3983480" cy="1627635"/>
            </a:xfrm>
            <a:custGeom>
              <a:avLst/>
              <a:gdLst/>
              <a:ahLst/>
              <a:cxnLst/>
              <a:rect l="l" t="t" r="r" b="b"/>
              <a:pathLst>
                <a:path w="3983480" h="1627635">
                  <a:moveTo>
                    <a:pt x="0" y="0"/>
                  </a:moveTo>
                  <a:lnTo>
                    <a:pt x="3983480" y="0"/>
                  </a:lnTo>
                  <a:lnTo>
                    <a:pt x="3983480" y="1627635"/>
                  </a:lnTo>
                  <a:lnTo>
                    <a:pt x="0" y="1627635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58F1E25-CD96-C39E-7CFC-0EFDBD99A8C9}"/>
                </a:ext>
              </a:extLst>
            </p:cNvPr>
            <p:cNvSpPr txBox="1"/>
            <p:nvPr/>
          </p:nvSpPr>
          <p:spPr>
            <a:xfrm>
              <a:off x="0" y="-57150"/>
              <a:ext cx="3983480" cy="1684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5B065EE-F240-BCFE-BC2E-909982BB287C}"/>
              </a:ext>
            </a:extLst>
          </p:cNvPr>
          <p:cNvSpPr txBox="1"/>
          <p:nvPr/>
        </p:nvSpPr>
        <p:spPr>
          <a:xfrm>
            <a:off x="1549635" y="4700210"/>
            <a:ext cx="59463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simulation confirms correct hysteresis behavior of Vout3, with proper switching of both the LED (at 40 mA) and the 5 V relay, according to CO concentration thresholds.</a:t>
            </a:r>
          </a:p>
        </p:txBody>
      </p:sp>
      <p:sp>
        <p:nvSpPr>
          <p:cNvPr id="12" name="Freeform 29">
            <a:hlinkClick r:id="rId3" action="ppaction://hlinksldjump"/>
            <a:extLst>
              <a:ext uri="{FF2B5EF4-FFF2-40B4-BE49-F238E27FC236}">
                <a16:creationId xmlns:a16="http://schemas.microsoft.com/office/drawing/2014/main" id="{D5E46F63-0CC1-3D46-889D-BA779F0DCE3B}"/>
              </a:ext>
            </a:extLst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9">
            <a:hlinkClick r:id="rId6" action="ppaction://hlinksldjump"/>
            <a:extLst>
              <a:ext uri="{FF2B5EF4-FFF2-40B4-BE49-F238E27FC236}">
                <a16:creationId xmlns:a16="http://schemas.microsoft.com/office/drawing/2014/main" id="{2A90E3CC-34D9-E21C-2804-AAB5E22E315B}"/>
              </a:ext>
            </a:extLst>
          </p:cNvPr>
          <p:cNvSpPr/>
          <p:nvPr/>
        </p:nvSpPr>
        <p:spPr>
          <a:xfrm rot="10800000">
            <a:off x="15645691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85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1DDAB-983D-1E92-D54A-C3006E332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8F9BD0B-F363-AB21-DB57-A459B2F05E41}"/>
              </a:ext>
            </a:extLst>
          </p:cNvPr>
          <p:cNvGrpSpPr/>
          <p:nvPr/>
        </p:nvGrpSpPr>
        <p:grpSpPr>
          <a:xfrm rot="16200000">
            <a:off x="5254805" y="-2712071"/>
            <a:ext cx="7710141" cy="18288000"/>
            <a:chOff x="0" y="0"/>
            <a:chExt cx="2030654" cy="24384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C6EFEF3-6BE4-F11C-C80B-6260B4129A7A}"/>
                </a:ext>
              </a:extLst>
            </p:cNvPr>
            <p:cNvSpPr/>
            <p:nvPr/>
          </p:nvSpPr>
          <p:spPr>
            <a:xfrm>
              <a:off x="0" y="0"/>
              <a:ext cx="2030654" cy="2438400"/>
            </a:xfrm>
            <a:custGeom>
              <a:avLst/>
              <a:gdLst/>
              <a:ahLst/>
              <a:cxnLst/>
              <a:rect l="l" t="t" r="r" b="b"/>
              <a:pathLst>
                <a:path w="2030654" h="2438400">
                  <a:moveTo>
                    <a:pt x="0" y="0"/>
                  </a:moveTo>
                  <a:lnTo>
                    <a:pt x="2030654" y="0"/>
                  </a:lnTo>
                  <a:lnTo>
                    <a:pt x="203065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C534E8C-012C-A1A6-8F54-A1348D6B0715}"/>
                </a:ext>
              </a:extLst>
            </p:cNvPr>
            <p:cNvSpPr txBox="1"/>
            <p:nvPr/>
          </p:nvSpPr>
          <p:spPr>
            <a:xfrm>
              <a:off x="0" y="-57150"/>
              <a:ext cx="2030654" cy="249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629C1127-B4C4-FB04-3CBD-112F967E161D}"/>
              </a:ext>
            </a:extLst>
          </p:cNvPr>
          <p:cNvSpPr txBox="1"/>
          <p:nvPr/>
        </p:nvSpPr>
        <p:spPr>
          <a:xfrm>
            <a:off x="996732" y="218720"/>
            <a:ext cx="8756868" cy="2047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Worst case/Monte Carlo analysis</a:t>
            </a:r>
            <a:endParaRPr lang="en-US" sz="5852" b="1" spc="38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" name="Freeform 29">
            <a:hlinkClick r:id="rId2" action="ppaction://hlinksldjump"/>
            <a:extLst>
              <a:ext uri="{FF2B5EF4-FFF2-40B4-BE49-F238E27FC236}">
                <a16:creationId xmlns:a16="http://schemas.microsoft.com/office/drawing/2014/main" id="{8167A4DD-8481-81F5-26C8-01F32AF24545}"/>
              </a:ext>
            </a:extLst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1ED797E-2AA3-C203-E08F-0BCFE84D8D58}"/>
              </a:ext>
            </a:extLst>
          </p:cNvPr>
          <p:cNvGrpSpPr/>
          <p:nvPr/>
        </p:nvGrpSpPr>
        <p:grpSpPr>
          <a:xfrm>
            <a:off x="-4512208" y="3276526"/>
            <a:ext cx="13200985" cy="6199451"/>
            <a:chOff x="4498866" y="1001448"/>
            <a:chExt cx="13200985" cy="6199451"/>
          </a:xfrm>
        </p:grpSpPr>
        <p:grpSp>
          <p:nvGrpSpPr>
            <p:cNvPr id="4" name="Group 11">
              <a:extLst>
                <a:ext uri="{FF2B5EF4-FFF2-40B4-BE49-F238E27FC236}">
                  <a16:creationId xmlns:a16="http://schemas.microsoft.com/office/drawing/2014/main" id="{DAB9BC13-FE07-628A-5266-5F4686D16081}"/>
                </a:ext>
              </a:extLst>
            </p:cNvPr>
            <p:cNvGrpSpPr/>
            <p:nvPr/>
          </p:nvGrpSpPr>
          <p:grpSpPr>
            <a:xfrm>
              <a:off x="10463917" y="1001448"/>
              <a:ext cx="7235934" cy="4276074"/>
              <a:chOff x="0" y="0"/>
              <a:chExt cx="2317914" cy="1273897"/>
            </a:xfrm>
          </p:grpSpPr>
          <p:sp>
            <p:nvSpPr>
              <p:cNvPr id="8" name="Freeform 12">
                <a:extLst>
                  <a:ext uri="{FF2B5EF4-FFF2-40B4-BE49-F238E27FC236}">
                    <a16:creationId xmlns:a16="http://schemas.microsoft.com/office/drawing/2014/main" id="{C0700329-3142-4BDE-3F10-0FD3A8D1DAA8}"/>
                  </a:ext>
                </a:extLst>
              </p:cNvPr>
              <p:cNvSpPr/>
              <p:nvPr/>
            </p:nvSpPr>
            <p:spPr>
              <a:xfrm>
                <a:off x="0" y="0"/>
                <a:ext cx="2317914" cy="1273897"/>
              </a:xfrm>
              <a:custGeom>
                <a:avLst/>
                <a:gdLst/>
                <a:ahLst/>
                <a:cxnLst/>
                <a:rect l="l" t="t" r="r" b="b"/>
                <a:pathLst>
                  <a:path w="2317914" h="1273897">
                    <a:moveTo>
                      <a:pt x="0" y="0"/>
                    </a:moveTo>
                    <a:lnTo>
                      <a:pt x="2317914" y="0"/>
                    </a:lnTo>
                    <a:lnTo>
                      <a:pt x="2317914" y="1273897"/>
                    </a:lnTo>
                    <a:lnTo>
                      <a:pt x="0" y="1273897"/>
                    </a:lnTo>
                    <a:close/>
                  </a:path>
                </a:pathLst>
              </a:cu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13">
                <a:extLst>
                  <a:ext uri="{FF2B5EF4-FFF2-40B4-BE49-F238E27FC236}">
                    <a16:creationId xmlns:a16="http://schemas.microsoft.com/office/drawing/2014/main" id="{C5934F77-950D-9FA7-4AB8-EC5245A3C1AA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2317914" cy="1331047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6">
              <a:extLst>
                <a:ext uri="{FF2B5EF4-FFF2-40B4-BE49-F238E27FC236}">
                  <a16:creationId xmlns:a16="http://schemas.microsoft.com/office/drawing/2014/main" id="{F0B5D424-1C78-3219-C346-CB6F382EDB61}"/>
                </a:ext>
              </a:extLst>
            </p:cNvPr>
            <p:cNvGrpSpPr/>
            <p:nvPr/>
          </p:nvGrpSpPr>
          <p:grpSpPr>
            <a:xfrm>
              <a:off x="4498866" y="1275435"/>
              <a:ext cx="13200983" cy="5925464"/>
              <a:chOff x="0" y="-1032101"/>
              <a:chExt cx="6389843" cy="2659736"/>
            </a:xfrm>
          </p:grpSpPr>
          <p:sp>
            <p:nvSpPr>
              <p:cNvPr id="13" name="Freeform 7">
                <a:extLst>
                  <a:ext uri="{FF2B5EF4-FFF2-40B4-BE49-F238E27FC236}">
                    <a16:creationId xmlns:a16="http://schemas.microsoft.com/office/drawing/2014/main" id="{E5CD15AF-CAF6-CD29-517A-71947822C899}"/>
                  </a:ext>
                </a:extLst>
              </p:cNvPr>
              <p:cNvSpPr/>
              <p:nvPr/>
            </p:nvSpPr>
            <p:spPr>
              <a:xfrm>
                <a:off x="2887340" y="-1032101"/>
                <a:ext cx="3502503" cy="1575255"/>
              </a:xfrm>
              <a:custGeom>
                <a:avLst/>
                <a:gdLst/>
                <a:ahLst/>
                <a:cxnLst/>
                <a:rect l="l" t="t" r="r" b="b"/>
                <a:pathLst>
                  <a:path w="3983480" h="1627635">
                    <a:moveTo>
                      <a:pt x="0" y="0"/>
                    </a:moveTo>
                    <a:lnTo>
                      <a:pt x="3983480" y="0"/>
                    </a:lnTo>
                    <a:lnTo>
                      <a:pt x="3983480" y="1627635"/>
                    </a:lnTo>
                    <a:lnTo>
                      <a:pt x="0" y="1627635"/>
                    </a:lnTo>
                    <a:close/>
                  </a:path>
                </a:pathLst>
              </a:custGeom>
              <a:solidFill>
                <a:srgbClr val="1B946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D5F62663-014C-1F90-7F42-DC96057B7ECB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3983480" cy="16847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4A6900F-088D-4406-9011-3ED5730371A2}"/>
              </a:ext>
            </a:extLst>
          </p:cNvPr>
          <p:cNvSpPr txBox="1"/>
          <p:nvPr/>
        </p:nvSpPr>
        <p:spPr>
          <a:xfrm>
            <a:off x="1422937" y="3774301"/>
            <a:ext cx="7235935" cy="2831544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worst-case scenario, the target output was 12 V.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resistor tolerances, the simulated output reached 12.380 V, leading to an error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error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(12.380 − 12) / 12 × 100 =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0.19%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case of nominal values, the error was only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0.001%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resistors with tighter tolerance would significantly reduce this error and make the output closer to the nominal 12 V value.</a:t>
            </a:r>
          </a:p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77EC0A7-563F-6591-2EBE-159BD733A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4647" y="8159410"/>
            <a:ext cx="3372321" cy="11812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4421B23-429E-5145-E059-3BED2D43BF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213" y="532570"/>
            <a:ext cx="7507941" cy="518997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49E18D6-8C1B-7577-EFD9-F117F2A882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9491" y="6731280"/>
            <a:ext cx="4457897" cy="32078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00AC0BB-37A0-EA63-B2E6-5562181F09B2}"/>
              </a:ext>
            </a:extLst>
          </p:cNvPr>
          <p:cNvSpPr txBox="1"/>
          <p:nvPr/>
        </p:nvSpPr>
        <p:spPr>
          <a:xfrm>
            <a:off x="11207893" y="6236513"/>
            <a:ext cx="180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Output File</a:t>
            </a:r>
          </a:p>
        </p:txBody>
      </p:sp>
      <p:sp>
        <p:nvSpPr>
          <p:cNvPr id="26" name="Freeform 9">
            <a:hlinkClick r:id="rId8" action="ppaction://hlinksldjump"/>
            <a:extLst>
              <a:ext uri="{FF2B5EF4-FFF2-40B4-BE49-F238E27FC236}">
                <a16:creationId xmlns:a16="http://schemas.microsoft.com/office/drawing/2014/main" id="{0DA6162A-BC40-634E-6A01-47A723BBC48A}"/>
              </a:ext>
            </a:extLst>
          </p:cNvPr>
          <p:cNvSpPr/>
          <p:nvPr/>
        </p:nvSpPr>
        <p:spPr>
          <a:xfrm rot="10800000">
            <a:off x="15645691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3A508-0E06-27B5-866C-86A3029E8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3E246A9E-4832-E22E-39CF-541F1149F0BC}"/>
              </a:ext>
            </a:extLst>
          </p:cNvPr>
          <p:cNvGrpSpPr/>
          <p:nvPr/>
        </p:nvGrpSpPr>
        <p:grpSpPr>
          <a:xfrm rot="16200000">
            <a:off x="5254805" y="-2712071"/>
            <a:ext cx="7710141" cy="18288000"/>
            <a:chOff x="0" y="0"/>
            <a:chExt cx="2030654" cy="24384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393044D-492D-866E-F283-E7E69475CA40}"/>
                </a:ext>
              </a:extLst>
            </p:cNvPr>
            <p:cNvSpPr/>
            <p:nvPr/>
          </p:nvSpPr>
          <p:spPr>
            <a:xfrm>
              <a:off x="0" y="0"/>
              <a:ext cx="2030654" cy="2438400"/>
            </a:xfrm>
            <a:custGeom>
              <a:avLst/>
              <a:gdLst/>
              <a:ahLst/>
              <a:cxnLst/>
              <a:rect l="l" t="t" r="r" b="b"/>
              <a:pathLst>
                <a:path w="2030654" h="2438400">
                  <a:moveTo>
                    <a:pt x="0" y="0"/>
                  </a:moveTo>
                  <a:lnTo>
                    <a:pt x="2030654" y="0"/>
                  </a:lnTo>
                  <a:lnTo>
                    <a:pt x="203065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37B0AA0-7AEB-AAAD-119C-09CC5356EAAD}"/>
                </a:ext>
              </a:extLst>
            </p:cNvPr>
            <p:cNvSpPr txBox="1"/>
            <p:nvPr/>
          </p:nvSpPr>
          <p:spPr>
            <a:xfrm>
              <a:off x="0" y="-57150"/>
              <a:ext cx="2030654" cy="249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9B7D4DEA-BF20-E661-C607-056EF4A930D0}"/>
              </a:ext>
            </a:extLst>
          </p:cNvPr>
          <p:cNvSpPr txBox="1"/>
          <p:nvPr/>
        </p:nvSpPr>
        <p:spPr>
          <a:xfrm>
            <a:off x="996732" y="218720"/>
            <a:ext cx="8756868" cy="2047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93"/>
              </a:lnSpc>
              <a:spcBef>
                <a:spcPct val="0"/>
              </a:spcBef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Worst case/Monte Carlo analysis</a:t>
            </a:r>
            <a:endParaRPr lang="en-US" sz="5852" b="1" spc="38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" name="Freeform 29">
            <a:hlinkClick r:id="rId2" action="ppaction://hlinksldjump"/>
            <a:extLst>
              <a:ext uri="{FF2B5EF4-FFF2-40B4-BE49-F238E27FC236}">
                <a16:creationId xmlns:a16="http://schemas.microsoft.com/office/drawing/2014/main" id="{FB9B0D65-5292-EC68-2C71-4FB9CAE76A5D}"/>
              </a:ext>
            </a:extLst>
          </p:cNvPr>
          <p:cNvSpPr/>
          <p:nvPr/>
        </p:nvSpPr>
        <p:spPr>
          <a:xfrm>
            <a:off x="16780649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8E9D89-744E-BFDD-65AF-F2B90266751D}"/>
              </a:ext>
            </a:extLst>
          </p:cNvPr>
          <p:cNvGrpSpPr/>
          <p:nvPr/>
        </p:nvGrpSpPr>
        <p:grpSpPr>
          <a:xfrm>
            <a:off x="-4877385" y="2576856"/>
            <a:ext cx="12563628" cy="4852644"/>
            <a:chOff x="4498866" y="1001448"/>
            <a:chExt cx="13200985" cy="6199451"/>
          </a:xfrm>
        </p:grpSpPr>
        <p:grpSp>
          <p:nvGrpSpPr>
            <p:cNvPr id="4" name="Group 11">
              <a:extLst>
                <a:ext uri="{FF2B5EF4-FFF2-40B4-BE49-F238E27FC236}">
                  <a16:creationId xmlns:a16="http://schemas.microsoft.com/office/drawing/2014/main" id="{687C909B-1492-927D-4BC8-4AD7B9A8DE03}"/>
                </a:ext>
              </a:extLst>
            </p:cNvPr>
            <p:cNvGrpSpPr/>
            <p:nvPr/>
          </p:nvGrpSpPr>
          <p:grpSpPr>
            <a:xfrm>
              <a:off x="10463917" y="1001448"/>
              <a:ext cx="7235934" cy="4276074"/>
              <a:chOff x="0" y="0"/>
              <a:chExt cx="2317914" cy="1273897"/>
            </a:xfrm>
          </p:grpSpPr>
          <p:sp>
            <p:nvSpPr>
              <p:cNvPr id="8" name="Freeform 12">
                <a:extLst>
                  <a:ext uri="{FF2B5EF4-FFF2-40B4-BE49-F238E27FC236}">
                    <a16:creationId xmlns:a16="http://schemas.microsoft.com/office/drawing/2014/main" id="{02E9FCDA-C0F0-BD2C-0BFF-72E496724642}"/>
                  </a:ext>
                </a:extLst>
              </p:cNvPr>
              <p:cNvSpPr/>
              <p:nvPr/>
            </p:nvSpPr>
            <p:spPr>
              <a:xfrm>
                <a:off x="0" y="0"/>
                <a:ext cx="2317914" cy="1273897"/>
              </a:xfrm>
              <a:custGeom>
                <a:avLst/>
                <a:gdLst/>
                <a:ahLst/>
                <a:cxnLst/>
                <a:rect l="l" t="t" r="r" b="b"/>
                <a:pathLst>
                  <a:path w="2317914" h="1273897">
                    <a:moveTo>
                      <a:pt x="0" y="0"/>
                    </a:moveTo>
                    <a:lnTo>
                      <a:pt x="2317914" y="0"/>
                    </a:lnTo>
                    <a:lnTo>
                      <a:pt x="2317914" y="1273897"/>
                    </a:lnTo>
                    <a:lnTo>
                      <a:pt x="0" y="1273897"/>
                    </a:lnTo>
                    <a:close/>
                  </a:path>
                </a:pathLst>
              </a:cu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13">
                <a:extLst>
                  <a:ext uri="{FF2B5EF4-FFF2-40B4-BE49-F238E27FC236}">
                    <a16:creationId xmlns:a16="http://schemas.microsoft.com/office/drawing/2014/main" id="{5EC74EDE-45C4-41D0-4CEE-DE21B6C7A77D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2317914" cy="1331047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6">
              <a:extLst>
                <a:ext uri="{FF2B5EF4-FFF2-40B4-BE49-F238E27FC236}">
                  <a16:creationId xmlns:a16="http://schemas.microsoft.com/office/drawing/2014/main" id="{C5B7E09F-1492-C0F0-3C93-7F4817027812}"/>
                </a:ext>
              </a:extLst>
            </p:cNvPr>
            <p:cNvGrpSpPr/>
            <p:nvPr/>
          </p:nvGrpSpPr>
          <p:grpSpPr>
            <a:xfrm>
              <a:off x="4498866" y="1275435"/>
              <a:ext cx="13200983" cy="5925464"/>
              <a:chOff x="0" y="-1032101"/>
              <a:chExt cx="6389843" cy="2659736"/>
            </a:xfrm>
          </p:grpSpPr>
          <p:sp>
            <p:nvSpPr>
              <p:cNvPr id="13" name="Freeform 7">
                <a:extLst>
                  <a:ext uri="{FF2B5EF4-FFF2-40B4-BE49-F238E27FC236}">
                    <a16:creationId xmlns:a16="http://schemas.microsoft.com/office/drawing/2014/main" id="{2B78AC3D-3110-7E39-864D-C7B7CCEFC40A}"/>
                  </a:ext>
                </a:extLst>
              </p:cNvPr>
              <p:cNvSpPr/>
              <p:nvPr/>
            </p:nvSpPr>
            <p:spPr>
              <a:xfrm>
                <a:off x="2887340" y="-1032101"/>
                <a:ext cx="3502503" cy="1575255"/>
              </a:xfrm>
              <a:custGeom>
                <a:avLst/>
                <a:gdLst/>
                <a:ahLst/>
                <a:cxnLst/>
                <a:rect l="l" t="t" r="r" b="b"/>
                <a:pathLst>
                  <a:path w="3983480" h="1627635">
                    <a:moveTo>
                      <a:pt x="0" y="0"/>
                    </a:moveTo>
                    <a:lnTo>
                      <a:pt x="3983480" y="0"/>
                    </a:lnTo>
                    <a:lnTo>
                      <a:pt x="3983480" y="1627635"/>
                    </a:lnTo>
                    <a:lnTo>
                      <a:pt x="0" y="1627635"/>
                    </a:lnTo>
                    <a:close/>
                  </a:path>
                </a:pathLst>
              </a:custGeom>
              <a:solidFill>
                <a:srgbClr val="1B946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D89BD846-3EB9-0A73-DDAA-1BCE815966E8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3983480" cy="16847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672C6DD-45B6-1F5C-72B8-2AD382B1FB69}"/>
              </a:ext>
            </a:extLst>
          </p:cNvPr>
          <p:cNvSpPr txBox="1"/>
          <p:nvPr/>
        </p:nvSpPr>
        <p:spPr>
          <a:xfrm>
            <a:off x="774010" y="2467173"/>
            <a:ext cx="6886576" cy="3416320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how resistor tolerances statistically affect the output voltage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Vout2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Vout2_max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variation of upper voltage threshold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Vout2_min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variation of lower threshold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range varies slightly but stays within functional limits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tolerance of the components was decreased, the range on the x-axis would vary between values closer to the mean.</a:t>
            </a:r>
          </a:p>
          <a:p>
            <a:endParaRPr lang="en-US" dirty="0"/>
          </a:p>
        </p:txBody>
      </p:sp>
      <p:sp>
        <p:nvSpPr>
          <p:cNvPr id="26" name="Freeform 9">
            <a:hlinkClick r:id="rId5" action="ppaction://hlinksldjump"/>
            <a:extLst>
              <a:ext uri="{FF2B5EF4-FFF2-40B4-BE49-F238E27FC236}">
                <a16:creationId xmlns:a16="http://schemas.microsoft.com/office/drawing/2014/main" id="{3952E917-E8CD-4554-C813-7C7CE610B1BC}"/>
              </a:ext>
            </a:extLst>
          </p:cNvPr>
          <p:cNvSpPr/>
          <p:nvPr/>
        </p:nvSpPr>
        <p:spPr>
          <a:xfrm rot="10800000">
            <a:off x="15645691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F9000D-9320-FFF1-CD45-CCF1D156F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2541" y="1207072"/>
            <a:ext cx="6505141" cy="45240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35119D-9A35-D35F-0489-D0504B8E89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150" y="6230501"/>
            <a:ext cx="6269850" cy="383777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34118F-97F1-B76B-A031-673FF4661E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410" y="6230501"/>
            <a:ext cx="6193651" cy="383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08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5880002"/>
            <a:ext cx="18288000" cy="4406998"/>
            <a:chOff x="0" y="0"/>
            <a:chExt cx="4816593" cy="11606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160691"/>
            </a:xfrm>
            <a:custGeom>
              <a:avLst/>
              <a:gdLst/>
              <a:ahLst/>
              <a:cxnLst/>
              <a:rect l="l" t="t" r="r" b="b"/>
              <a:pathLst>
                <a:path w="4816592" h="1160691">
                  <a:moveTo>
                    <a:pt x="0" y="0"/>
                  </a:moveTo>
                  <a:lnTo>
                    <a:pt x="4816592" y="0"/>
                  </a:lnTo>
                  <a:lnTo>
                    <a:pt x="4816592" y="1160691"/>
                  </a:lnTo>
                  <a:lnTo>
                    <a:pt x="0" y="1160691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816593" cy="1217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81613" y="2725415"/>
            <a:ext cx="15124775" cy="6179928"/>
            <a:chOff x="0" y="0"/>
            <a:chExt cx="3983480" cy="16276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83480" cy="1627635"/>
            </a:xfrm>
            <a:custGeom>
              <a:avLst/>
              <a:gdLst/>
              <a:ahLst/>
              <a:cxnLst/>
              <a:rect l="l" t="t" r="r" b="b"/>
              <a:pathLst>
                <a:path w="3983480" h="1627635">
                  <a:moveTo>
                    <a:pt x="0" y="0"/>
                  </a:moveTo>
                  <a:lnTo>
                    <a:pt x="3983480" y="0"/>
                  </a:lnTo>
                  <a:lnTo>
                    <a:pt x="3983480" y="1627635"/>
                  </a:lnTo>
                  <a:lnTo>
                    <a:pt x="0" y="1627635"/>
                  </a:lnTo>
                  <a:close/>
                </a:path>
              </a:pathLst>
            </a:custGeom>
            <a:solidFill>
              <a:srgbClr val="1B946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983480" cy="16847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225606" y="3158016"/>
            <a:ext cx="13836783" cy="2056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06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Simulations confirmed correct system behavior under varying CO levels. The design is functional, low-cost, and adaptable for real applications. €48 / 237 RON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estimated component cost is approximately, with potential for reduction by sourcing cheaper alternatives.</a:t>
            </a:r>
            <a:endParaRPr lang="en-US" sz="2900" spc="188" dirty="0">
              <a:solidFill>
                <a:srgbClr val="FFFFFF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10" name="Freeform 10"/>
          <p:cNvSpPr/>
          <p:nvPr/>
        </p:nvSpPr>
        <p:spPr>
          <a:xfrm rot="5324316">
            <a:off x="14890109" y="-3175249"/>
            <a:ext cx="6662432" cy="5614266"/>
          </a:xfrm>
          <a:custGeom>
            <a:avLst/>
            <a:gdLst/>
            <a:ahLst/>
            <a:cxnLst/>
            <a:rect l="l" t="t" r="r" b="b"/>
            <a:pathLst>
              <a:path w="6662432" h="5614266">
                <a:moveTo>
                  <a:pt x="0" y="0"/>
                </a:moveTo>
                <a:lnTo>
                  <a:pt x="6662432" y="0"/>
                </a:lnTo>
                <a:lnTo>
                  <a:pt x="6662432" y="5614266"/>
                </a:lnTo>
                <a:lnTo>
                  <a:pt x="0" y="5614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81007" y="1073135"/>
            <a:ext cx="1514312" cy="1301362"/>
            <a:chOff x="0" y="0"/>
            <a:chExt cx="812800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1B946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048508" y="866775"/>
            <a:ext cx="6190983" cy="99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3"/>
              </a:lnSpc>
              <a:spcBef>
                <a:spcPct val="0"/>
              </a:spcBef>
            </a:pPr>
            <a:r>
              <a:rPr lang="en-US" sz="5852" b="1" spc="380" dirty="0">
                <a:solidFill>
                  <a:srgbClr val="1B946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Conclusion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126263-B79D-73B2-A7D7-D4928E2D3B12}"/>
              </a:ext>
            </a:extLst>
          </p:cNvPr>
          <p:cNvSpPr txBox="1"/>
          <p:nvPr/>
        </p:nvSpPr>
        <p:spPr>
          <a:xfrm>
            <a:off x="12420599" y="7454046"/>
            <a:ext cx="3796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time dedicated to this project: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40-45 hours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2F0FC8-E7EE-299A-E567-C8483398F722}"/>
              </a:ext>
            </a:extLst>
          </p:cNvPr>
          <p:cNvSpPr txBox="1"/>
          <p:nvPr/>
        </p:nvSpPr>
        <p:spPr>
          <a:xfrm>
            <a:off x="2070532" y="7300157"/>
            <a:ext cx="61590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full project documentation can be accessed here:</a:t>
            </a:r>
            <a:br>
              <a:rPr lang="en-US" sz="2000" dirty="0"/>
            </a:br>
            <a:r>
              <a:rPr lang="en-US" sz="2000" b="1" dirty="0"/>
              <a:t>[</a:t>
            </a:r>
            <a:r>
              <a:rPr lang="en-US" sz="2000" b="1" dirty="0">
                <a:hlinkClick r:id="rId5"/>
              </a:rPr>
              <a:t>here</a:t>
            </a:r>
            <a:r>
              <a:rPr lang="en-US" sz="2000" b="1" dirty="0"/>
              <a:t>]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Freeform 9">
            <a:hlinkClick r:id="rId6" action="ppaction://hlinksldjump"/>
            <a:extLst>
              <a:ext uri="{FF2B5EF4-FFF2-40B4-BE49-F238E27FC236}">
                <a16:creationId xmlns:a16="http://schemas.microsoft.com/office/drawing/2014/main" id="{8E49D756-894A-9E40-7CB0-DE659945A022}"/>
              </a:ext>
            </a:extLst>
          </p:cNvPr>
          <p:cNvSpPr/>
          <p:nvPr/>
        </p:nvSpPr>
        <p:spPr>
          <a:xfrm rot="10800000">
            <a:off x="15645691" y="8885345"/>
            <a:ext cx="919202" cy="745910"/>
          </a:xfrm>
          <a:custGeom>
            <a:avLst/>
            <a:gdLst/>
            <a:ahLst/>
            <a:cxnLst/>
            <a:rect l="l" t="t" r="r" b="b"/>
            <a:pathLst>
              <a:path w="919202" h="745910">
                <a:moveTo>
                  <a:pt x="0" y="0"/>
                </a:moveTo>
                <a:lnTo>
                  <a:pt x="919202" y="0"/>
                </a:lnTo>
                <a:lnTo>
                  <a:pt x="919202" y="745910"/>
                </a:lnTo>
                <a:lnTo>
                  <a:pt x="0" y="7459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2116</TotalTime>
  <Words>1271</Words>
  <Application>Microsoft Office PowerPoint</Application>
  <PresentationFormat>Custom</PresentationFormat>
  <Paragraphs>206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Times New Roman</vt:lpstr>
      <vt:lpstr>Arial</vt:lpstr>
      <vt:lpstr>Poppins Bold</vt:lpstr>
      <vt:lpstr>Aptos Display</vt:lpstr>
      <vt:lpstr>Courier New</vt:lpstr>
      <vt:lpstr>Aptos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White Gray Modern Group Project Presentation</dc:title>
  <dc:creator>PATRICIA BALASCAU</dc:creator>
  <cp:lastModifiedBy>Patricia Andreea Balascau</cp:lastModifiedBy>
  <cp:revision>88</cp:revision>
  <dcterms:created xsi:type="dcterms:W3CDTF">2006-08-16T00:00:00Z</dcterms:created>
  <dcterms:modified xsi:type="dcterms:W3CDTF">2025-05-26T19:11:42Z</dcterms:modified>
  <dc:identifier>DAGoXvraaX4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2025-05-24T14:16:28Z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19f78f3a-1a2f-4aef-b44d-0bad142f343d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